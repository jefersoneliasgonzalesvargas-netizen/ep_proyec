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Source Sans 3 Bold" charset="1" panose="020B0303030403020204"/>
      <p:regular r:id="rId18"/>
    </p:embeddedFont>
    <p:embeddedFont>
      <p:font typeface="Montserrat Bold" charset="1" panose="00000800000000000000"/>
      <p:regular r:id="rId19"/>
    </p:embeddedFont>
    <p:embeddedFont>
      <p:font typeface="Source Sans 3" charset="1" panose="020B0303030403020204"/>
      <p:regular r:id="rId20"/>
    </p:embeddedFont>
    <p:embeddedFont>
      <p:font typeface="IBM Plex Mono" charset="1" panose="020B0509050203000203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0" y="0"/>
            <a:ext cx="8001000" cy="10287000"/>
          </a:xfrm>
          <a:custGeom>
            <a:avLst/>
            <a:gdLst/>
            <a:ahLst/>
            <a:cxnLst/>
            <a:rect r="r" b="b" t="t" l="l"/>
            <a:pathLst>
              <a:path h="10287000" w="8001000">
                <a:moveTo>
                  <a:pt x="0" y="0"/>
                </a:moveTo>
                <a:lnTo>
                  <a:pt x="8001000" y="0"/>
                </a:lnTo>
                <a:lnTo>
                  <a:pt x="8001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8" r="0" b="-98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9144000" y="0"/>
            <a:ext cx="3429000" cy="10287000"/>
            <a:chOff x="0" y="0"/>
            <a:chExt cx="4572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72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1B33">
                <a:alpha val="77647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572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52500" y="847725"/>
            <a:ext cx="8096250" cy="307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 spc="150" b="true">
                <a:solidFill>
                  <a:srgbClr val="20B8CD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UNIVERSIDAD PRIVADA DEL NORTE · LOS OLIVOS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2500" y="2228850"/>
            <a:ext cx="9048750" cy="2032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79"/>
              </a:lnSpc>
            </a:pPr>
            <a:r>
              <a:rPr lang="en-US" sz="76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Del archivador</a:t>
            </a:r>
          </a:p>
          <a:p>
            <a:pPr algn="l">
              <a:lnSpc>
                <a:spcPts val="7879"/>
              </a:lnSpc>
            </a:pPr>
            <a:r>
              <a:rPr lang="en-US" sz="76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 algoritmo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52500" y="5810250"/>
            <a:ext cx="1428750" cy="76200"/>
            <a:chOff x="0" y="0"/>
            <a:chExt cx="1905000" cy="101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05000" cy="101600"/>
            </a:xfrm>
            <a:custGeom>
              <a:avLst/>
              <a:gdLst/>
              <a:ahLst/>
              <a:cxnLst/>
              <a:rect r="r" b="b" t="t" l="l"/>
              <a:pathLst>
                <a:path h="101600" w="1905000">
                  <a:moveTo>
                    <a:pt x="0" y="0"/>
                  </a:moveTo>
                  <a:lnTo>
                    <a:pt x="1905000" y="0"/>
                  </a:lnTo>
                  <a:lnTo>
                    <a:pt x="1905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0B8CD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9050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52500" y="4667250"/>
            <a:ext cx="800100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0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Prototipo para la mesa de partes digital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2500" y="6267450"/>
            <a:ext cx="7810500" cy="206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4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C9D8E8"/>
                </a:solidFill>
                <a:latin typeface="Source Sans 3"/>
                <a:ea typeface="Source Sans 3"/>
                <a:cs typeface="Source Sans 3"/>
                <a:sym typeface="Source Sans 3"/>
              </a:rPr>
              <a:t>Ingeniería de Sistemas Computacionales · Fundamentos de Programación I</a:t>
            </a:r>
          </a:p>
          <a:p>
            <a:pPr algn="l" marL="0" indent="0" lvl="0">
              <a:lnSpc>
                <a:spcPts val="234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C9D8E8"/>
                </a:solidFill>
                <a:latin typeface="Source Sans 3"/>
                <a:ea typeface="Source Sans 3"/>
                <a:cs typeface="Source Sans 3"/>
                <a:sym typeface="Source Sans 3"/>
              </a:rPr>
              <a:t>Integrantes:</a:t>
            </a:r>
          </a:p>
          <a:p>
            <a:pPr algn="l" marL="0" indent="0" lvl="0">
              <a:lnSpc>
                <a:spcPts val="234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C9D8E8"/>
                </a:solidFill>
                <a:latin typeface="Source Sans 3"/>
                <a:ea typeface="Source Sans 3"/>
                <a:cs typeface="Source Sans 3"/>
                <a:sym typeface="Source Sans 3"/>
              </a:rPr>
              <a:t>Gonzales Vargas, Elias – N00485078</a:t>
            </a:r>
          </a:p>
          <a:p>
            <a:pPr algn="l" marL="0" indent="0" lvl="0">
              <a:lnSpc>
                <a:spcPts val="234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C9D8E8"/>
                </a:solidFill>
                <a:latin typeface="Source Sans 3"/>
                <a:ea typeface="Source Sans 3"/>
                <a:cs typeface="Source Sans 3"/>
                <a:sym typeface="Source Sans 3"/>
              </a:rPr>
              <a:t>Salazar Flores, Dafne Gabriela – N00551498</a:t>
            </a:r>
          </a:p>
          <a:p>
            <a:pPr algn="l" marL="0" indent="0" lvl="0">
              <a:lnSpc>
                <a:spcPts val="234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C9D8E8"/>
                </a:solidFill>
                <a:latin typeface="Source Sans 3"/>
                <a:ea typeface="Source Sans 3"/>
                <a:cs typeface="Source Sans 3"/>
                <a:sym typeface="Source Sans 3"/>
              </a:rPr>
              <a:t>Tambini Rodriguez, Marcelo Valentino – N00443634</a:t>
            </a:r>
          </a:p>
          <a:p>
            <a:pPr algn="l" marL="0" indent="0" lvl="0">
              <a:lnSpc>
                <a:spcPts val="234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C9D8E8"/>
                </a:solidFill>
                <a:latin typeface="Source Sans 3"/>
                <a:ea typeface="Source Sans 3"/>
                <a:cs typeface="Source Sans 3"/>
                <a:sym typeface="Source Sans 3"/>
              </a:rPr>
              <a:t>Docente: Tomás Amaya Gálvez</a:t>
            </a:r>
          </a:p>
          <a:p>
            <a:pPr algn="l" marL="0" indent="0" lvl="0">
              <a:lnSpc>
                <a:spcPts val="234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C9D8E8"/>
                </a:solidFill>
                <a:latin typeface="Source Sans 3"/>
                <a:ea typeface="Source Sans 3"/>
                <a:cs typeface="Source Sans 3"/>
                <a:sym typeface="Source Sans 3"/>
              </a:rPr>
              <a:t>Lima,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714375"/>
            <a:ext cx="14287500" cy="587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true">
                <a:solidFill>
                  <a:srgbClr val="1023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El problema: el registro sigue siendo manual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52500" y="2190750"/>
            <a:ext cx="6858000" cy="4286250"/>
            <a:chOff x="0" y="0"/>
            <a:chExt cx="9144000" cy="5715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9144000" cy="5715000"/>
              <a:chOff x="0" y="0"/>
              <a:chExt cx="9144000" cy="5715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9144000" cy="5715000"/>
              </a:xfrm>
              <a:custGeom>
                <a:avLst/>
                <a:gdLst/>
                <a:ahLst/>
                <a:cxnLst/>
                <a:rect r="r" b="b" t="t" l="l"/>
                <a:pathLst>
                  <a:path h="5715000" w="9144000">
                    <a:moveTo>
                      <a:pt x="0" y="0"/>
                    </a:moveTo>
                    <a:lnTo>
                      <a:pt x="9144000" y="0"/>
                    </a:lnTo>
                    <a:lnTo>
                      <a:pt x="9144000" y="5715000"/>
                    </a:lnTo>
                    <a:lnTo>
                      <a:pt x="0" y="5715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9144000" cy="575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0" y="0"/>
              <a:ext cx="177800" cy="5715000"/>
              <a:chOff x="0" y="0"/>
              <a:chExt cx="177800" cy="57150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77800" cy="5715000"/>
              </a:xfrm>
              <a:custGeom>
                <a:avLst/>
                <a:gdLst/>
                <a:ahLst/>
                <a:cxnLst/>
                <a:rect r="r" b="b" t="t" l="l"/>
                <a:pathLst>
                  <a:path h="5715000" w="177800">
                    <a:moveTo>
                      <a:pt x="0" y="0"/>
                    </a:moveTo>
                    <a:lnTo>
                      <a:pt x="177800" y="0"/>
                    </a:lnTo>
                    <a:lnTo>
                      <a:pt x="177800" y="5715000"/>
                    </a:lnTo>
                    <a:lnTo>
                      <a:pt x="0" y="5715000"/>
                    </a:lnTo>
                    <a:close/>
                  </a:path>
                </a:pathLst>
              </a:custGeom>
              <a:solidFill>
                <a:srgbClr val="176BA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177800" cy="575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635000" y="673100"/>
              <a:ext cx="7874000" cy="4711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77"/>
                </a:lnSpc>
              </a:pPr>
              <a:r>
                <a:rPr lang="en-US" sz="2550" b="true">
                  <a:solidFill>
                    <a:srgbClr val="176BA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LEY N.° 31170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635000" y="1612900"/>
              <a:ext cx="7874000" cy="12611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47"/>
                </a:lnSpc>
              </a:pPr>
              <a:r>
                <a:rPr lang="en-US" sz="2850">
                  <a:solidFill>
                    <a:srgbClr val="10233B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Las entidades del Estado deben contar con una mesa de partes digital.</a:t>
              </a:r>
            </a:p>
          </p:txBody>
        </p:sp>
      </p:grpSp>
      <p:sp>
        <p:nvSpPr>
          <p:cNvPr name="AutoShape 12" id="12"/>
          <p:cNvSpPr/>
          <p:nvPr/>
        </p:nvSpPr>
        <p:spPr>
          <a:xfrm>
            <a:off x="8096250" y="4333875"/>
            <a:ext cx="2095500" cy="0"/>
          </a:xfrm>
          <a:prstGeom prst="line">
            <a:avLst/>
          </a:prstGeom>
          <a:ln cap="rnd" w="47625">
            <a:solidFill>
              <a:srgbClr val="20B8CD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3" id="13"/>
          <p:cNvGrpSpPr/>
          <p:nvPr/>
        </p:nvGrpSpPr>
        <p:grpSpPr>
          <a:xfrm rot="0">
            <a:off x="10477500" y="2190750"/>
            <a:ext cx="6858000" cy="4286250"/>
            <a:chOff x="0" y="0"/>
            <a:chExt cx="9144000" cy="5715000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9144000" cy="5715000"/>
              <a:chOff x="0" y="0"/>
              <a:chExt cx="9144000" cy="57150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9144000" cy="5715000"/>
              </a:xfrm>
              <a:custGeom>
                <a:avLst/>
                <a:gdLst/>
                <a:ahLst/>
                <a:cxnLst/>
                <a:rect r="r" b="b" t="t" l="l"/>
                <a:pathLst>
                  <a:path h="5715000" w="9144000">
                    <a:moveTo>
                      <a:pt x="0" y="0"/>
                    </a:moveTo>
                    <a:lnTo>
                      <a:pt x="9144000" y="0"/>
                    </a:lnTo>
                    <a:lnTo>
                      <a:pt x="9144000" y="5715000"/>
                    </a:lnTo>
                    <a:lnTo>
                      <a:pt x="0" y="5715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9144000" cy="575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8966200" y="0"/>
              <a:ext cx="177800" cy="5715000"/>
              <a:chOff x="0" y="0"/>
              <a:chExt cx="177800" cy="57150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77800" cy="5715000"/>
              </a:xfrm>
              <a:custGeom>
                <a:avLst/>
                <a:gdLst/>
                <a:ahLst/>
                <a:cxnLst/>
                <a:rect r="r" b="b" t="t" l="l"/>
                <a:pathLst>
                  <a:path h="5715000" w="177800">
                    <a:moveTo>
                      <a:pt x="0" y="0"/>
                    </a:moveTo>
                    <a:lnTo>
                      <a:pt x="177800" y="0"/>
                    </a:lnTo>
                    <a:lnTo>
                      <a:pt x="177800" y="5715000"/>
                    </a:lnTo>
                    <a:lnTo>
                      <a:pt x="0" y="5715000"/>
                    </a:lnTo>
                    <a:close/>
                  </a:path>
                </a:pathLst>
              </a:custGeom>
              <a:solidFill>
                <a:srgbClr val="DC5A5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177800" cy="575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254000" y="673100"/>
              <a:ext cx="7874000" cy="4711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77"/>
                </a:lnSpc>
              </a:pPr>
              <a:r>
                <a:rPr lang="en-US" sz="2550" b="true">
                  <a:solidFill>
                    <a:srgbClr val="DC5A5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REALIDAD OBSERVADA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254000" y="1612900"/>
              <a:ext cx="7874000" cy="12611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47"/>
                </a:lnSpc>
              </a:pPr>
              <a:r>
                <a:rPr lang="en-US" sz="2850">
                  <a:solidFill>
                    <a:srgbClr val="10233B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La Municipalidad de Los Olivos aún registra expedientes a mano.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3714750" y="7867650"/>
            <a:ext cx="10858500" cy="531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5"/>
              </a:lnSpc>
            </a:pPr>
            <a:r>
              <a:rPr lang="en-US" sz="3900" b="true">
                <a:solidFill>
                  <a:srgbClr val="1023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La brecha no es normativa. Es operativa.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714375"/>
            <a:ext cx="14287500" cy="587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true">
                <a:solidFill>
                  <a:srgbClr val="1023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Proceso observado en campo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52500" y="2095500"/>
            <a:ext cx="10287000" cy="6762750"/>
          </a:xfrm>
          <a:custGeom>
            <a:avLst/>
            <a:gdLst/>
            <a:ahLst/>
            <a:cxnLst/>
            <a:rect r="r" b="b" t="t" l="l"/>
            <a:pathLst>
              <a:path h="6762750" w="10287000">
                <a:moveTo>
                  <a:pt x="0" y="0"/>
                </a:moveTo>
                <a:lnTo>
                  <a:pt x="10287000" y="0"/>
                </a:lnTo>
                <a:lnTo>
                  <a:pt x="10287000" y="6762750"/>
                </a:lnTo>
                <a:lnTo>
                  <a:pt x="0" y="6762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8" t="0" r="-88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11620500" y="2095500"/>
            <a:ext cx="5715000" cy="6762750"/>
            <a:chOff x="0" y="0"/>
            <a:chExt cx="7620000" cy="90170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7620000" cy="9017000"/>
              <a:chOff x="0" y="0"/>
              <a:chExt cx="7620000" cy="9017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7620000" cy="9017000"/>
              </a:xfrm>
              <a:custGeom>
                <a:avLst/>
                <a:gdLst/>
                <a:ahLst/>
                <a:cxnLst/>
                <a:rect r="r" b="b" t="t" l="l"/>
                <a:pathLst>
                  <a:path h="9017000" w="7620000">
                    <a:moveTo>
                      <a:pt x="0" y="0"/>
                    </a:moveTo>
                    <a:lnTo>
                      <a:pt x="7620000" y="0"/>
                    </a:lnTo>
                    <a:lnTo>
                      <a:pt x="7620000" y="9017000"/>
                    </a:lnTo>
                    <a:lnTo>
                      <a:pt x="0" y="9017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7620000" cy="9055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508000" y="663575"/>
              <a:ext cx="6604000" cy="378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26"/>
                </a:lnSpc>
              </a:pPr>
              <a:r>
                <a:rPr lang="en-US" sz="2025" b="true">
                  <a:solidFill>
                    <a:srgbClr val="10233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Municipalidad Distrital de Los Olivos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508000" y="1622425"/>
              <a:ext cx="6604000" cy="4686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en-US" sz="2175">
                  <a:solidFill>
                    <a:srgbClr val="176BA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Av. Carlos Izaguirre 813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508000" y="3146425"/>
              <a:ext cx="6350000" cy="2003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37"/>
                </a:lnSpc>
              </a:pPr>
              <a:r>
                <a:rPr lang="en-US" sz="2250">
                  <a:solidFill>
                    <a:srgbClr val="10233B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Observación directa</a:t>
              </a:r>
            </a:p>
            <a:p>
              <a:pPr algn="l">
                <a:lnSpc>
                  <a:spcPts val="3037"/>
                </a:lnSpc>
              </a:pPr>
              <a:r>
                <a:rPr lang="en-US" sz="2250">
                  <a:solidFill>
                    <a:srgbClr val="10233B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• recepción de documentos</a:t>
              </a:r>
            </a:p>
            <a:p>
              <a:pPr algn="l">
                <a:lnSpc>
                  <a:spcPts val="3037"/>
                </a:lnSpc>
              </a:pPr>
              <a:r>
                <a:rPr lang="en-US" sz="2250">
                  <a:solidFill>
                    <a:srgbClr val="10233B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• registro manual</a:t>
              </a:r>
            </a:p>
            <a:p>
              <a:pPr algn="l">
                <a:lnSpc>
                  <a:spcPts val="3037"/>
                </a:lnSpc>
              </a:pPr>
              <a:r>
                <a:rPr lang="en-US" sz="2250">
                  <a:solidFill>
                    <a:srgbClr val="10233B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• consulta por revisión física</a:t>
              </a:r>
            </a:p>
          </p:txBody>
        </p:sp>
        <p:grpSp>
          <p:nvGrpSpPr>
            <p:cNvPr name="Group 11" id="11"/>
            <p:cNvGrpSpPr/>
            <p:nvPr/>
          </p:nvGrpSpPr>
          <p:grpSpPr>
            <a:xfrm rot="0">
              <a:off x="508000" y="7239000"/>
              <a:ext cx="6350000" cy="25400"/>
              <a:chOff x="0" y="0"/>
              <a:chExt cx="6350000" cy="254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6350000" cy="25400"/>
              </a:xfrm>
              <a:custGeom>
                <a:avLst/>
                <a:gdLst/>
                <a:ahLst/>
                <a:cxnLst/>
                <a:rect r="r" b="b" t="t" l="l"/>
                <a:pathLst>
                  <a:path h="25400" w="6350000">
                    <a:moveTo>
                      <a:pt x="0" y="0"/>
                    </a:moveTo>
                    <a:lnTo>
                      <a:pt x="6350000" y="0"/>
                    </a:lnTo>
                    <a:lnTo>
                      <a:pt x="6350000" y="25400"/>
                    </a:lnTo>
                    <a:lnTo>
                      <a:pt x="0" y="25400"/>
                    </a:lnTo>
                    <a:close/>
                  </a:path>
                </a:pathLst>
              </a:custGeom>
              <a:solidFill>
                <a:srgbClr val="CDD9E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6350000" cy="63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508000" y="7654925"/>
              <a:ext cx="6350000" cy="3549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 b="true">
                  <a:solidFill>
                    <a:srgbClr val="58708A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ESPACIO PARA FOTOS DE LA BITÁCORA FECHADA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714375"/>
            <a:ext cx="14287500" cy="587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true">
                <a:solidFill>
                  <a:srgbClr val="1023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Entradas, procesos y salidas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52500" y="2381250"/>
            <a:ext cx="4762500" cy="5810250"/>
            <a:chOff x="0" y="0"/>
            <a:chExt cx="6350000" cy="7747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6350000" cy="7747000"/>
              <a:chOff x="0" y="0"/>
              <a:chExt cx="6350000" cy="7747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6350000" cy="7747000"/>
              </a:xfrm>
              <a:custGeom>
                <a:avLst/>
                <a:gdLst/>
                <a:ahLst/>
                <a:cxnLst/>
                <a:rect r="r" b="b" t="t" l="l"/>
                <a:pathLst>
                  <a:path h="7747000" w="6350000">
                    <a:moveTo>
                      <a:pt x="0" y="0"/>
                    </a:moveTo>
                    <a:lnTo>
                      <a:pt x="6350000" y="0"/>
                    </a:lnTo>
                    <a:lnTo>
                      <a:pt x="6350000" y="7747000"/>
                    </a:lnTo>
                    <a:lnTo>
                      <a:pt x="0" y="7747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6350000" cy="7785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0" y="0"/>
              <a:ext cx="6350000" cy="1524000"/>
              <a:chOff x="0" y="0"/>
              <a:chExt cx="6350000" cy="15240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6350000" cy="1524000"/>
              </a:xfrm>
              <a:custGeom>
                <a:avLst/>
                <a:gdLst/>
                <a:ahLst/>
                <a:cxnLst/>
                <a:rect r="r" b="b" t="t" l="l"/>
                <a:pathLst>
                  <a:path h="1524000" w="6350000">
                    <a:moveTo>
                      <a:pt x="0" y="0"/>
                    </a:moveTo>
                    <a:lnTo>
                      <a:pt x="6350000" y="0"/>
                    </a:lnTo>
                    <a:lnTo>
                      <a:pt x="6350000" y="1524000"/>
                    </a:lnTo>
                    <a:lnTo>
                      <a:pt x="0" y="1524000"/>
                    </a:lnTo>
                    <a:close/>
                  </a:path>
                </a:pathLst>
              </a:custGeom>
              <a:solidFill>
                <a:srgbClr val="176BA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6350000" cy="156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571500" y="673100"/>
              <a:ext cx="5207000" cy="4419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24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ENTRADAS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762000" y="2209800"/>
              <a:ext cx="4826000" cy="2566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52"/>
                </a:lnSpc>
              </a:pPr>
              <a:r>
                <a:rPr lang="en-US" sz="2550">
                  <a:solidFill>
                    <a:srgbClr val="10233B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Documento</a:t>
              </a:r>
            </a:p>
            <a:p>
              <a:pPr algn="ctr">
                <a:lnSpc>
                  <a:spcPts val="3952"/>
                </a:lnSpc>
              </a:pPr>
              <a:r>
                <a:rPr lang="en-US" sz="2550">
                  <a:solidFill>
                    <a:srgbClr val="10233B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DNI y nombre</a:t>
              </a:r>
            </a:p>
            <a:p>
              <a:pPr algn="ctr">
                <a:lnSpc>
                  <a:spcPts val="3952"/>
                </a:lnSpc>
              </a:pPr>
              <a:r>
                <a:rPr lang="en-US" sz="2550">
                  <a:solidFill>
                    <a:srgbClr val="10233B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Asunto y tipo</a:t>
              </a:r>
            </a:p>
            <a:p>
              <a:pPr algn="ctr">
                <a:lnSpc>
                  <a:spcPts val="3952"/>
                </a:lnSpc>
              </a:pPr>
              <a:r>
                <a:rPr lang="en-US" sz="2550">
                  <a:solidFill>
                    <a:srgbClr val="10233B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Folios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762750" y="2381250"/>
            <a:ext cx="4762500" cy="5810250"/>
            <a:chOff x="0" y="0"/>
            <a:chExt cx="6350000" cy="774700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6350000" cy="7747000"/>
              <a:chOff x="0" y="0"/>
              <a:chExt cx="6350000" cy="77470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6350000" cy="7747000"/>
              </a:xfrm>
              <a:custGeom>
                <a:avLst/>
                <a:gdLst/>
                <a:ahLst/>
                <a:cxnLst/>
                <a:rect r="r" b="b" t="t" l="l"/>
                <a:pathLst>
                  <a:path h="7747000" w="6350000">
                    <a:moveTo>
                      <a:pt x="0" y="0"/>
                    </a:moveTo>
                    <a:lnTo>
                      <a:pt x="6350000" y="0"/>
                    </a:lnTo>
                    <a:lnTo>
                      <a:pt x="6350000" y="7747000"/>
                    </a:lnTo>
                    <a:lnTo>
                      <a:pt x="0" y="7747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6350000" cy="7785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0"/>
              <a:ext cx="6350000" cy="1524000"/>
              <a:chOff x="0" y="0"/>
              <a:chExt cx="6350000" cy="15240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6350000" cy="1524000"/>
              </a:xfrm>
              <a:custGeom>
                <a:avLst/>
                <a:gdLst/>
                <a:ahLst/>
                <a:cxnLst/>
                <a:rect r="r" b="b" t="t" l="l"/>
                <a:pathLst>
                  <a:path h="1524000" w="6350000">
                    <a:moveTo>
                      <a:pt x="0" y="0"/>
                    </a:moveTo>
                    <a:lnTo>
                      <a:pt x="6350000" y="0"/>
                    </a:lnTo>
                    <a:lnTo>
                      <a:pt x="6350000" y="1524000"/>
                    </a:lnTo>
                    <a:lnTo>
                      <a:pt x="0" y="1524000"/>
                    </a:lnTo>
                    <a:close/>
                  </a:path>
                </a:pathLst>
              </a:custGeom>
              <a:solidFill>
                <a:srgbClr val="20B8C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6350000" cy="156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571500" y="673100"/>
              <a:ext cx="5207000" cy="4419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24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PROCESO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762000" y="2209800"/>
              <a:ext cx="4826000" cy="2566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52"/>
                </a:lnSpc>
              </a:pPr>
              <a:r>
                <a:rPr lang="en-US" sz="2550">
                  <a:solidFill>
                    <a:srgbClr val="10233B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Validar datos</a:t>
              </a:r>
            </a:p>
            <a:p>
              <a:pPr algn="ctr">
                <a:lnSpc>
                  <a:spcPts val="3952"/>
                </a:lnSpc>
              </a:pPr>
              <a:r>
                <a:rPr lang="en-US" sz="2550">
                  <a:solidFill>
                    <a:srgbClr val="10233B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Generar código</a:t>
              </a:r>
            </a:p>
            <a:p>
              <a:pPr algn="ctr">
                <a:lnSpc>
                  <a:spcPts val="3952"/>
                </a:lnSpc>
              </a:pPr>
              <a:r>
                <a:rPr lang="en-US" sz="2550">
                  <a:solidFill>
                    <a:srgbClr val="10233B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Registrar</a:t>
              </a:r>
            </a:p>
            <a:p>
              <a:pPr algn="ctr">
                <a:lnSpc>
                  <a:spcPts val="3952"/>
                </a:lnSpc>
              </a:pPr>
              <a:r>
                <a:rPr lang="en-US" sz="2550">
                  <a:solidFill>
                    <a:srgbClr val="10233B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Derivar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573000" y="2381250"/>
            <a:ext cx="4762500" cy="5810250"/>
            <a:chOff x="0" y="0"/>
            <a:chExt cx="6350000" cy="7747000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6350000" cy="7747000"/>
              <a:chOff x="0" y="0"/>
              <a:chExt cx="6350000" cy="77470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6350000" cy="7747000"/>
              </a:xfrm>
              <a:custGeom>
                <a:avLst/>
                <a:gdLst/>
                <a:ahLst/>
                <a:cxnLst/>
                <a:rect r="r" b="b" t="t" l="l"/>
                <a:pathLst>
                  <a:path h="7747000" w="6350000">
                    <a:moveTo>
                      <a:pt x="0" y="0"/>
                    </a:moveTo>
                    <a:lnTo>
                      <a:pt x="6350000" y="0"/>
                    </a:lnTo>
                    <a:lnTo>
                      <a:pt x="6350000" y="7747000"/>
                    </a:lnTo>
                    <a:lnTo>
                      <a:pt x="0" y="7747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6350000" cy="7785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0" y="0"/>
              <a:ext cx="6350000" cy="1524000"/>
              <a:chOff x="0" y="0"/>
              <a:chExt cx="6350000" cy="15240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6350000" cy="1524000"/>
              </a:xfrm>
              <a:custGeom>
                <a:avLst/>
                <a:gdLst/>
                <a:ahLst/>
                <a:cxnLst/>
                <a:rect r="r" b="b" t="t" l="l"/>
                <a:pathLst>
                  <a:path h="1524000" w="6350000">
                    <a:moveTo>
                      <a:pt x="0" y="0"/>
                    </a:moveTo>
                    <a:lnTo>
                      <a:pt x="6350000" y="0"/>
                    </a:lnTo>
                    <a:lnTo>
                      <a:pt x="6350000" y="1524000"/>
                    </a:lnTo>
                    <a:lnTo>
                      <a:pt x="0" y="1524000"/>
                    </a:lnTo>
                    <a:close/>
                  </a:path>
                </a:pathLst>
              </a:custGeom>
              <a:solidFill>
                <a:srgbClr val="23A47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6350000" cy="156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571500" y="673100"/>
              <a:ext cx="5207000" cy="4419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24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SALIDAS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762000" y="2209800"/>
              <a:ext cx="4826000" cy="2566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52"/>
                </a:lnSpc>
              </a:pPr>
              <a:r>
                <a:rPr lang="en-US" sz="2550">
                  <a:solidFill>
                    <a:srgbClr val="10233B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Código único</a:t>
              </a:r>
            </a:p>
            <a:p>
              <a:pPr algn="ctr">
                <a:lnSpc>
                  <a:spcPts val="3952"/>
                </a:lnSpc>
              </a:pPr>
              <a:r>
                <a:rPr lang="en-US" sz="2550">
                  <a:solidFill>
                    <a:srgbClr val="10233B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Expediente guardado</a:t>
              </a:r>
            </a:p>
            <a:p>
              <a:pPr algn="ctr">
                <a:lnSpc>
                  <a:spcPts val="3952"/>
                </a:lnSpc>
              </a:pPr>
              <a:r>
                <a:rPr lang="en-US" sz="2550">
                  <a:solidFill>
                    <a:srgbClr val="10233B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Consulta disponible</a:t>
              </a:r>
            </a:p>
            <a:p>
              <a:pPr algn="ctr">
                <a:lnSpc>
                  <a:spcPts val="3952"/>
                </a:lnSpc>
              </a:pPr>
              <a:r>
                <a:rPr lang="en-US" sz="2550">
                  <a:solidFill>
                    <a:srgbClr val="10233B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Listado ordenado</a:t>
              </a:r>
            </a:p>
          </p:txBody>
        </p:sp>
      </p:grpSp>
      <p:sp>
        <p:nvSpPr>
          <p:cNvPr name="AutoShape 30" id="30"/>
          <p:cNvSpPr/>
          <p:nvPr/>
        </p:nvSpPr>
        <p:spPr>
          <a:xfrm>
            <a:off x="5810250" y="5286375"/>
            <a:ext cx="762000" cy="0"/>
          </a:xfrm>
          <a:prstGeom prst="line">
            <a:avLst/>
          </a:prstGeom>
          <a:ln cap="rnd" w="47625">
            <a:solidFill>
              <a:srgbClr val="20B8CD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1" id="31"/>
          <p:cNvSpPr/>
          <p:nvPr/>
        </p:nvSpPr>
        <p:spPr>
          <a:xfrm>
            <a:off x="11620500" y="5286375"/>
            <a:ext cx="762000" cy="0"/>
          </a:xfrm>
          <a:prstGeom prst="line">
            <a:avLst/>
          </a:prstGeom>
          <a:ln cap="rnd" w="47625">
            <a:solidFill>
              <a:srgbClr val="20B8CD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714375"/>
            <a:ext cx="14287500" cy="587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true">
                <a:solidFill>
                  <a:srgbClr val="1023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Requerimientos del prototipo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52500" y="2286000"/>
            <a:ext cx="5143500" cy="2476500"/>
            <a:chOff x="0" y="0"/>
            <a:chExt cx="6858000" cy="3302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6858000" cy="3302000"/>
              <a:chOff x="0" y="0"/>
              <a:chExt cx="6858000" cy="3302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6858000" cy="3302000"/>
              </a:xfrm>
              <a:custGeom>
                <a:avLst/>
                <a:gdLst/>
                <a:ahLst/>
                <a:cxnLst/>
                <a:rect r="r" b="b" t="t" l="l"/>
                <a:pathLst>
                  <a:path h="3302000" w="6858000">
                    <a:moveTo>
                      <a:pt x="0" y="0"/>
                    </a:moveTo>
                    <a:lnTo>
                      <a:pt x="6858000" y="0"/>
                    </a:lnTo>
                    <a:lnTo>
                      <a:pt x="6858000" y="3302000"/>
                    </a:lnTo>
                    <a:lnTo>
                      <a:pt x="0" y="3302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6858000" cy="334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0" y="0"/>
              <a:ext cx="127000" cy="3302000"/>
              <a:chOff x="0" y="0"/>
              <a:chExt cx="127000" cy="33020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27000" cy="3302000"/>
              </a:xfrm>
              <a:custGeom>
                <a:avLst/>
                <a:gdLst/>
                <a:ahLst/>
                <a:cxnLst/>
                <a:rect r="r" b="b" t="t" l="l"/>
                <a:pathLst>
                  <a:path h="3302000" w="127000">
                    <a:moveTo>
                      <a:pt x="0" y="0"/>
                    </a:moveTo>
                    <a:lnTo>
                      <a:pt x="127000" y="0"/>
                    </a:lnTo>
                    <a:lnTo>
                      <a:pt x="127000" y="3302000"/>
                    </a:lnTo>
                    <a:lnTo>
                      <a:pt x="0" y="3302000"/>
                    </a:lnTo>
                    <a:close/>
                  </a:path>
                </a:pathLst>
              </a:custGeom>
              <a:solidFill>
                <a:srgbClr val="176BA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127000" cy="334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444500" y="520700"/>
              <a:ext cx="1143000" cy="600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07"/>
                </a:lnSpc>
              </a:pPr>
              <a:r>
                <a:rPr lang="en-US" sz="3150" b="true">
                  <a:solidFill>
                    <a:srgbClr val="20B8C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01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714500" y="647700"/>
              <a:ext cx="4953000" cy="398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83"/>
                </a:lnSpc>
              </a:pPr>
              <a:r>
                <a:rPr lang="en-US" sz="2175" b="true">
                  <a:solidFill>
                    <a:srgbClr val="10233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Registrar un expediente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572250" y="2286000"/>
            <a:ext cx="5143500" cy="2476500"/>
            <a:chOff x="0" y="0"/>
            <a:chExt cx="6858000" cy="330200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6858000" cy="3302000"/>
              <a:chOff x="0" y="0"/>
              <a:chExt cx="6858000" cy="33020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6858000" cy="3302000"/>
              </a:xfrm>
              <a:custGeom>
                <a:avLst/>
                <a:gdLst/>
                <a:ahLst/>
                <a:cxnLst/>
                <a:rect r="r" b="b" t="t" l="l"/>
                <a:pathLst>
                  <a:path h="3302000" w="6858000">
                    <a:moveTo>
                      <a:pt x="0" y="0"/>
                    </a:moveTo>
                    <a:lnTo>
                      <a:pt x="6858000" y="0"/>
                    </a:lnTo>
                    <a:lnTo>
                      <a:pt x="6858000" y="3302000"/>
                    </a:lnTo>
                    <a:lnTo>
                      <a:pt x="0" y="3302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6858000" cy="334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0"/>
              <a:ext cx="127000" cy="3302000"/>
              <a:chOff x="0" y="0"/>
              <a:chExt cx="127000" cy="33020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27000" cy="3302000"/>
              </a:xfrm>
              <a:custGeom>
                <a:avLst/>
                <a:gdLst/>
                <a:ahLst/>
                <a:cxnLst/>
                <a:rect r="r" b="b" t="t" l="l"/>
                <a:pathLst>
                  <a:path h="3302000" w="127000">
                    <a:moveTo>
                      <a:pt x="0" y="0"/>
                    </a:moveTo>
                    <a:lnTo>
                      <a:pt x="127000" y="0"/>
                    </a:lnTo>
                    <a:lnTo>
                      <a:pt x="127000" y="3302000"/>
                    </a:lnTo>
                    <a:lnTo>
                      <a:pt x="0" y="3302000"/>
                    </a:lnTo>
                    <a:close/>
                  </a:path>
                </a:pathLst>
              </a:custGeom>
              <a:solidFill>
                <a:srgbClr val="176BA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27000" cy="334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444500" y="520700"/>
              <a:ext cx="1143000" cy="600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07"/>
                </a:lnSpc>
              </a:pPr>
              <a:r>
                <a:rPr lang="en-US" sz="3150" b="true">
                  <a:solidFill>
                    <a:srgbClr val="20B8C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02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1714500" y="638175"/>
              <a:ext cx="4953000" cy="378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26"/>
                </a:lnSpc>
              </a:pPr>
              <a:r>
                <a:rPr lang="en-US" sz="2025" b="true">
                  <a:solidFill>
                    <a:srgbClr val="10233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Generar código correlativo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192000" y="2286000"/>
            <a:ext cx="5143500" cy="2476500"/>
            <a:chOff x="0" y="0"/>
            <a:chExt cx="6858000" cy="3302000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6858000" cy="3302000"/>
              <a:chOff x="0" y="0"/>
              <a:chExt cx="6858000" cy="33020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6858000" cy="3302000"/>
              </a:xfrm>
              <a:custGeom>
                <a:avLst/>
                <a:gdLst/>
                <a:ahLst/>
                <a:cxnLst/>
                <a:rect r="r" b="b" t="t" l="l"/>
                <a:pathLst>
                  <a:path h="3302000" w="6858000">
                    <a:moveTo>
                      <a:pt x="0" y="0"/>
                    </a:moveTo>
                    <a:lnTo>
                      <a:pt x="6858000" y="0"/>
                    </a:lnTo>
                    <a:lnTo>
                      <a:pt x="6858000" y="3302000"/>
                    </a:lnTo>
                    <a:lnTo>
                      <a:pt x="0" y="3302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6858000" cy="334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0" y="0"/>
              <a:ext cx="127000" cy="3302000"/>
              <a:chOff x="0" y="0"/>
              <a:chExt cx="127000" cy="33020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27000" cy="3302000"/>
              </a:xfrm>
              <a:custGeom>
                <a:avLst/>
                <a:gdLst/>
                <a:ahLst/>
                <a:cxnLst/>
                <a:rect r="r" b="b" t="t" l="l"/>
                <a:pathLst>
                  <a:path h="3302000" w="127000">
                    <a:moveTo>
                      <a:pt x="0" y="0"/>
                    </a:moveTo>
                    <a:lnTo>
                      <a:pt x="127000" y="0"/>
                    </a:lnTo>
                    <a:lnTo>
                      <a:pt x="127000" y="3302000"/>
                    </a:lnTo>
                    <a:lnTo>
                      <a:pt x="0" y="3302000"/>
                    </a:lnTo>
                    <a:close/>
                  </a:path>
                </a:pathLst>
              </a:custGeom>
              <a:solidFill>
                <a:srgbClr val="176BA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127000" cy="334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444500" y="520700"/>
              <a:ext cx="1143000" cy="600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07"/>
                </a:lnSpc>
              </a:pPr>
              <a:r>
                <a:rPr lang="en-US" sz="3150" b="true">
                  <a:solidFill>
                    <a:srgbClr val="20B8C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03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1714500" y="647700"/>
              <a:ext cx="4953000" cy="398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83"/>
                </a:lnSpc>
              </a:pPr>
              <a:r>
                <a:rPr lang="en-US" sz="2175" b="true">
                  <a:solidFill>
                    <a:srgbClr val="10233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Buscar por código o DNI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52500" y="5524500"/>
            <a:ext cx="5143500" cy="2476500"/>
            <a:chOff x="0" y="0"/>
            <a:chExt cx="6858000" cy="3302000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0"/>
              <a:ext cx="6858000" cy="3302000"/>
              <a:chOff x="0" y="0"/>
              <a:chExt cx="6858000" cy="33020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6858000" cy="3302000"/>
              </a:xfrm>
              <a:custGeom>
                <a:avLst/>
                <a:gdLst/>
                <a:ahLst/>
                <a:cxnLst/>
                <a:rect r="r" b="b" t="t" l="l"/>
                <a:pathLst>
                  <a:path h="3302000" w="6858000">
                    <a:moveTo>
                      <a:pt x="0" y="0"/>
                    </a:moveTo>
                    <a:lnTo>
                      <a:pt x="6858000" y="0"/>
                    </a:lnTo>
                    <a:lnTo>
                      <a:pt x="6858000" y="3302000"/>
                    </a:lnTo>
                    <a:lnTo>
                      <a:pt x="0" y="3302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6858000" cy="334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0" y="0"/>
              <a:ext cx="127000" cy="3302000"/>
              <a:chOff x="0" y="0"/>
              <a:chExt cx="127000" cy="33020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127000" cy="3302000"/>
              </a:xfrm>
              <a:custGeom>
                <a:avLst/>
                <a:gdLst/>
                <a:ahLst/>
                <a:cxnLst/>
                <a:rect r="r" b="b" t="t" l="l"/>
                <a:pathLst>
                  <a:path h="3302000" w="127000">
                    <a:moveTo>
                      <a:pt x="0" y="0"/>
                    </a:moveTo>
                    <a:lnTo>
                      <a:pt x="127000" y="0"/>
                    </a:lnTo>
                    <a:lnTo>
                      <a:pt x="127000" y="3302000"/>
                    </a:lnTo>
                    <a:lnTo>
                      <a:pt x="0" y="3302000"/>
                    </a:lnTo>
                    <a:close/>
                  </a:path>
                </a:pathLst>
              </a:custGeom>
              <a:solidFill>
                <a:srgbClr val="20B8C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38100"/>
                <a:ext cx="127000" cy="334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7" id="37"/>
            <p:cNvSpPr txBox="true"/>
            <p:nvPr/>
          </p:nvSpPr>
          <p:spPr>
            <a:xfrm rot="0">
              <a:off x="444500" y="520700"/>
              <a:ext cx="1143000" cy="600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07"/>
                </a:lnSpc>
              </a:pPr>
              <a:r>
                <a:rPr lang="en-US" sz="3150" b="true">
                  <a:solidFill>
                    <a:srgbClr val="20B8C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04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1714500" y="647700"/>
              <a:ext cx="4953000" cy="398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83"/>
                </a:lnSpc>
              </a:pPr>
              <a:r>
                <a:rPr lang="en-US" sz="2175" b="true">
                  <a:solidFill>
                    <a:srgbClr val="10233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Ordenar y listar registros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6572250" y="5524500"/>
            <a:ext cx="5143500" cy="2476500"/>
            <a:chOff x="0" y="0"/>
            <a:chExt cx="6858000" cy="3302000"/>
          </a:xfrm>
        </p:grpSpPr>
        <p:grpSp>
          <p:nvGrpSpPr>
            <p:cNvPr name="Group 40" id="40"/>
            <p:cNvGrpSpPr/>
            <p:nvPr/>
          </p:nvGrpSpPr>
          <p:grpSpPr>
            <a:xfrm rot="0">
              <a:off x="0" y="0"/>
              <a:ext cx="6858000" cy="3302000"/>
              <a:chOff x="0" y="0"/>
              <a:chExt cx="6858000" cy="3302000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6858000" cy="3302000"/>
              </a:xfrm>
              <a:custGeom>
                <a:avLst/>
                <a:gdLst/>
                <a:ahLst/>
                <a:cxnLst/>
                <a:rect r="r" b="b" t="t" l="l"/>
                <a:pathLst>
                  <a:path h="3302000" w="6858000">
                    <a:moveTo>
                      <a:pt x="0" y="0"/>
                    </a:moveTo>
                    <a:lnTo>
                      <a:pt x="6858000" y="0"/>
                    </a:lnTo>
                    <a:lnTo>
                      <a:pt x="6858000" y="3302000"/>
                    </a:lnTo>
                    <a:lnTo>
                      <a:pt x="0" y="3302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38100"/>
                <a:ext cx="6858000" cy="334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43" id="43"/>
            <p:cNvGrpSpPr/>
            <p:nvPr/>
          </p:nvGrpSpPr>
          <p:grpSpPr>
            <a:xfrm rot="0">
              <a:off x="0" y="0"/>
              <a:ext cx="127000" cy="3302000"/>
              <a:chOff x="0" y="0"/>
              <a:chExt cx="127000" cy="3302000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127000" cy="3302000"/>
              </a:xfrm>
              <a:custGeom>
                <a:avLst/>
                <a:gdLst/>
                <a:ahLst/>
                <a:cxnLst/>
                <a:rect r="r" b="b" t="t" l="l"/>
                <a:pathLst>
                  <a:path h="3302000" w="127000">
                    <a:moveTo>
                      <a:pt x="0" y="0"/>
                    </a:moveTo>
                    <a:lnTo>
                      <a:pt x="127000" y="0"/>
                    </a:lnTo>
                    <a:lnTo>
                      <a:pt x="127000" y="3302000"/>
                    </a:lnTo>
                    <a:lnTo>
                      <a:pt x="0" y="3302000"/>
                    </a:lnTo>
                    <a:close/>
                  </a:path>
                </a:pathLst>
              </a:custGeom>
              <a:solidFill>
                <a:srgbClr val="20B8C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-38100"/>
                <a:ext cx="127000" cy="334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6" id="46"/>
            <p:cNvSpPr txBox="true"/>
            <p:nvPr/>
          </p:nvSpPr>
          <p:spPr>
            <a:xfrm rot="0">
              <a:off x="444500" y="520700"/>
              <a:ext cx="1143000" cy="600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07"/>
                </a:lnSpc>
              </a:pPr>
              <a:r>
                <a:rPr lang="en-US" sz="3150" b="true">
                  <a:solidFill>
                    <a:srgbClr val="20B8C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05</a:t>
              </a:r>
            </a:p>
          </p:txBody>
        </p:sp>
        <p:sp>
          <p:nvSpPr>
            <p:cNvPr name="TextBox 47" id="47"/>
            <p:cNvSpPr txBox="true"/>
            <p:nvPr/>
          </p:nvSpPr>
          <p:spPr>
            <a:xfrm rot="0">
              <a:off x="1714500" y="638175"/>
              <a:ext cx="4953000" cy="3930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05"/>
                </a:lnSpc>
              </a:pPr>
              <a:r>
                <a:rPr lang="en-US" sz="2100" b="true">
                  <a:solidFill>
                    <a:srgbClr val="10233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Guardar y recuperar datos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2192000" y="5524500"/>
            <a:ext cx="5143500" cy="2476500"/>
            <a:chOff x="0" y="0"/>
            <a:chExt cx="6858000" cy="3302000"/>
          </a:xfrm>
        </p:grpSpPr>
        <p:grpSp>
          <p:nvGrpSpPr>
            <p:cNvPr name="Group 49" id="49"/>
            <p:cNvGrpSpPr/>
            <p:nvPr/>
          </p:nvGrpSpPr>
          <p:grpSpPr>
            <a:xfrm rot="0">
              <a:off x="0" y="0"/>
              <a:ext cx="6858000" cy="3302000"/>
              <a:chOff x="0" y="0"/>
              <a:chExt cx="6858000" cy="3302000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6858000" cy="3302000"/>
              </a:xfrm>
              <a:custGeom>
                <a:avLst/>
                <a:gdLst/>
                <a:ahLst/>
                <a:cxnLst/>
                <a:rect r="r" b="b" t="t" l="l"/>
                <a:pathLst>
                  <a:path h="3302000" w="6858000">
                    <a:moveTo>
                      <a:pt x="0" y="0"/>
                    </a:moveTo>
                    <a:lnTo>
                      <a:pt x="6858000" y="0"/>
                    </a:lnTo>
                    <a:lnTo>
                      <a:pt x="6858000" y="3302000"/>
                    </a:lnTo>
                    <a:lnTo>
                      <a:pt x="0" y="3302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38100"/>
                <a:ext cx="6858000" cy="334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52" id="52"/>
            <p:cNvGrpSpPr/>
            <p:nvPr/>
          </p:nvGrpSpPr>
          <p:grpSpPr>
            <a:xfrm rot="0">
              <a:off x="0" y="0"/>
              <a:ext cx="127000" cy="3302000"/>
              <a:chOff x="0" y="0"/>
              <a:chExt cx="127000" cy="3302000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127000" cy="3302000"/>
              </a:xfrm>
              <a:custGeom>
                <a:avLst/>
                <a:gdLst/>
                <a:ahLst/>
                <a:cxnLst/>
                <a:rect r="r" b="b" t="t" l="l"/>
                <a:pathLst>
                  <a:path h="3302000" w="127000">
                    <a:moveTo>
                      <a:pt x="0" y="0"/>
                    </a:moveTo>
                    <a:lnTo>
                      <a:pt x="127000" y="0"/>
                    </a:lnTo>
                    <a:lnTo>
                      <a:pt x="127000" y="3302000"/>
                    </a:lnTo>
                    <a:lnTo>
                      <a:pt x="0" y="3302000"/>
                    </a:lnTo>
                    <a:close/>
                  </a:path>
                </a:pathLst>
              </a:custGeom>
              <a:solidFill>
                <a:srgbClr val="20B8C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-38100"/>
                <a:ext cx="127000" cy="334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55" id="55"/>
            <p:cNvSpPr txBox="true"/>
            <p:nvPr/>
          </p:nvSpPr>
          <p:spPr>
            <a:xfrm rot="0">
              <a:off x="444500" y="520700"/>
              <a:ext cx="1143000" cy="600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07"/>
                </a:lnSpc>
              </a:pPr>
              <a:r>
                <a:rPr lang="en-US" sz="3150" b="true">
                  <a:solidFill>
                    <a:srgbClr val="20B8C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06</a:t>
              </a:r>
            </a:p>
          </p:txBody>
        </p:sp>
        <p:sp>
          <p:nvSpPr>
            <p:cNvPr name="TextBox 56" id="56"/>
            <p:cNvSpPr txBox="true"/>
            <p:nvPr/>
          </p:nvSpPr>
          <p:spPr>
            <a:xfrm rot="0">
              <a:off x="1714500" y="638175"/>
              <a:ext cx="4953000" cy="378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26"/>
                </a:lnSpc>
              </a:pPr>
              <a:r>
                <a:rPr lang="en-US" sz="2025" b="true">
                  <a:solidFill>
                    <a:srgbClr val="10233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Validar campos de entrada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714375"/>
            <a:ext cx="14287500" cy="587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true">
                <a:solidFill>
                  <a:srgbClr val="1023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Tres alternativas, una decisión trazable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52500" y="2095500"/>
            <a:ext cx="16383000" cy="6762750"/>
            <a:chOff x="0" y="0"/>
            <a:chExt cx="21844000" cy="9017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844000" cy="9017000"/>
            </a:xfrm>
            <a:custGeom>
              <a:avLst/>
              <a:gdLst/>
              <a:ahLst/>
              <a:cxnLst/>
              <a:rect r="r" b="b" t="t" l="l"/>
              <a:pathLst>
                <a:path h="90170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9017000"/>
                  </a:lnTo>
                  <a:lnTo>
                    <a:pt x="0" y="9017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1844000" cy="905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096000" y="2095500"/>
            <a:ext cx="3429000" cy="6762750"/>
            <a:chOff x="0" y="0"/>
            <a:chExt cx="4572000" cy="9017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572000" cy="9017000"/>
            </a:xfrm>
            <a:custGeom>
              <a:avLst/>
              <a:gdLst/>
              <a:ahLst/>
              <a:cxnLst/>
              <a:rect r="r" b="b" t="t" l="l"/>
              <a:pathLst>
                <a:path h="90170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9017000"/>
                  </a:lnTo>
                  <a:lnTo>
                    <a:pt x="0" y="9017000"/>
                  </a:lnTo>
                  <a:close/>
                </a:path>
              </a:pathLst>
            </a:custGeom>
            <a:solidFill>
              <a:srgbClr val="E7F5F1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572000" cy="905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6191250" y="2505075"/>
            <a:ext cx="3238500" cy="276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6"/>
              </a:lnSpc>
            </a:pPr>
            <a:r>
              <a:rPr lang="en-US" sz="2025" b="true">
                <a:solidFill>
                  <a:srgbClr val="176BA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 · Arreglos + archivo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620250" y="2505075"/>
            <a:ext cx="3238500" cy="276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6"/>
              </a:lnSpc>
            </a:pPr>
            <a:r>
              <a:rPr lang="en-US" sz="2025" b="true">
                <a:solidFill>
                  <a:srgbClr val="1023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 · Base de datos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049250" y="2505075"/>
            <a:ext cx="3238500" cy="276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6"/>
              </a:lnSpc>
            </a:pPr>
            <a:r>
              <a:rPr lang="en-US" sz="2025" b="true">
                <a:solidFill>
                  <a:srgbClr val="1023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 · Servicio web</a:t>
            </a:r>
          </a:p>
        </p:txBody>
      </p:sp>
      <p:sp>
        <p:nvSpPr>
          <p:cNvPr name="AutoShape 12" id="12"/>
          <p:cNvSpPr/>
          <p:nvPr/>
        </p:nvSpPr>
        <p:spPr>
          <a:xfrm>
            <a:off x="1238250" y="3524250"/>
            <a:ext cx="15621000" cy="0"/>
          </a:xfrm>
          <a:prstGeom prst="line">
            <a:avLst/>
          </a:prstGeom>
          <a:ln cap="flat" w="19050">
            <a:solidFill>
              <a:srgbClr val="CDD9E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1238250" y="3733800"/>
            <a:ext cx="4762500" cy="332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 b="true">
                <a:solidFill>
                  <a:srgbClr val="10233B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Cumple requerimientos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72250" y="3733800"/>
            <a:ext cx="247650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2100" b="true">
                <a:solidFill>
                  <a:srgbClr val="23A47B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Sí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001250" y="3733800"/>
            <a:ext cx="247650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2100">
                <a:solidFill>
                  <a:srgbClr val="10233B"/>
                </a:solidFill>
                <a:latin typeface="Source Sans 3"/>
                <a:ea typeface="Source Sans 3"/>
                <a:cs typeface="Source Sans 3"/>
                <a:sym typeface="Source Sans 3"/>
              </a:rPr>
              <a:t>Sí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430250" y="3733800"/>
            <a:ext cx="247650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2100">
                <a:solidFill>
                  <a:srgbClr val="10233B"/>
                </a:solidFill>
                <a:latin typeface="Source Sans 3"/>
                <a:ea typeface="Source Sans 3"/>
                <a:cs typeface="Source Sans 3"/>
                <a:sym typeface="Source Sans 3"/>
              </a:rPr>
              <a:t>Parcial</a:t>
            </a:r>
          </a:p>
        </p:txBody>
      </p:sp>
      <p:sp>
        <p:nvSpPr>
          <p:cNvPr name="AutoShape 17" id="17"/>
          <p:cNvSpPr/>
          <p:nvPr/>
        </p:nvSpPr>
        <p:spPr>
          <a:xfrm>
            <a:off x="1238250" y="4714875"/>
            <a:ext cx="15621000" cy="0"/>
          </a:xfrm>
          <a:prstGeom prst="line">
            <a:avLst/>
          </a:prstGeom>
          <a:ln cap="flat" w="19050">
            <a:solidFill>
              <a:srgbClr val="CDD9E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8" id="18"/>
          <p:cNvSpPr txBox="true"/>
          <p:nvPr/>
        </p:nvSpPr>
        <p:spPr>
          <a:xfrm rot="0">
            <a:off x="1238250" y="4924425"/>
            <a:ext cx="4762500" cy="332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 b="true">
                <a:solidFill>
                  <a:srgbClr val="10233B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Recursos disponibles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572250" y="4924425"/>
            <a:ext cx="247650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2100" b="true">
                <a:solidFill>
                  <a:srgbClr val="23A47B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Sí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001250" y="4924425"/>
            <a:ext cx="247650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2100">
                <a:solidFill>
                  <a:srgbClr val="10233B"/>
                </a:solidFill>
                <a:latin typeface="Source Sans 3"/>
                <a:ea typeface="Source Sans 3"/>
                <a:cs typeface="Source Sans 3"/>
                <a:sym typeface="Source Sans 3"/>
              </a:rPr>
              <a:t>No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430250" y="4924425"/>
            <a:ext cx="247650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2100">
                <a:solidFill>
                  <a:srgbClr val="10233B"/>
                </a:solidFill>
                <a:latin typeface="Source Sans 3"/>
                <a:ea typeface="Source Sans 3"/>
                <a:cs typeface="Source Sans 3"/>
                <a:sym typeface="Source Sans 3"/>
              </a:rPr>
              <a:t>Sí</a:t>
            </a:r>
          </a:p>
        </p:txBody>
      </p:sp>
      <p:sp>
        <p:nvSpPr>
          <p:cNvPr name="AutoShape 22" id="22"/>
          <p:cNvSpPr/>
          <p:nvPr/>
        </p:nvSpPr>
        <p:spPr>
          <a:xfrm>
            <a:off x="1238250" y="5905500"/>
            <a:ext cx="15621000" cy="0"/>
          </a:xfrm>
          <a:prstGeom prst="line">
            <a:avLst/>
          </a:prstGeom>
          <a:ln cap="flat" w="19050">
            <a:solidFill>
              <a:srgbClr val="CDD9E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3" id="23"/>
          <p:cNvSpPr txBox="true"/>
          <p:nvPr/>
        </p:nvSpPr>
        <p:spPr>
          <a:xfrm rot="0">
            <a:off x="1238250" y="6115050"/>
            <a:ext cx="4762500" cy="332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 b="true">
                <a:solidFill>
                  <a:srgbClr val="10233B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Costo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572250" y="6115050"/>
            <a:ext cx="247650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2100" b="true">
                <a:solidFill>
                  <a:srgbClr val="23A47B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S/ 0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001250" y="6115050"/>
            <a:ext cx="247650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2100">
                <a:solidFill>
                  <a:srgbClr val="10233B"/>
                </a:solidFill>
                <a:latin typeface="Source Sans 3"/>
                <a:ea typeface="Source Sans 3"/>
                <a:cs typeface="Source Sans 3"/>
                <a:sym typeface="Source Sans 3"/>
              </a:rPr>
              <a:t>Alto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430250" y="6115050"/>
            <a:ext cx="247650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2100">
                <a:solidFill>
                  <a:srgbClr val="10233B"/>
                </a:solidFill>
                <a:latin typeface="Source Sans 3"/>
                <a:ea typeface="Source Sans 3"/>
                <a:cs typeface="Source Sans 3"/>
                <a:sym typeface="Source Sans 3"/>
              </a:rPr>
              <a:t>Medio</a:t>
            </a:r>
          </a:p>
        </p:txBody>
      </p:sp>
      <p:sp>
        <p:nvSpPr>
          <p:cNvPr name="AutoShape 27" id="27"/>
          <p:cNvSpPr/>
          <p:nvPr/>
        </p:nvSpPr>
        <p:spPr>
          <a:xfrm>
            <a:off x="1238250" y="7096125"/>
            <a:ext cx="15621000" cy="0"/>
          </a:xfrm>
          <a:prstGeom prst="line">
            <a:avLst/>
          </a:prstGeom>
          <a:ln cap="flat" w="19050">
            <a:solidFill>
              <a:srgbClr val="CDD9E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8" id="28"/>
          <p:cNvSpPr txBox="true"/>
          <p:nvPr/>
        </p:nvSpPr>
        <p:spPr>
          <a:xfrm rot="0">
            <a:off x="1238250" y="7305675"/>
            <a:ext cx="4762500" cy="332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 b="true">
                <a:solidFill>
                  <a:srgbClr val="10233B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Control en oficina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572250" y="7305675"/>
            <a:ext cx="247650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2100" b="true">
                <a:solidFill>
                  <a:srgbClr val="23A47B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Alto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001250" y="7305675"/>
            <a:ext cx="247650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2100">
                <a:solidFill>
                  <a:srgbClr val="10233B"/>
                </a:solidFill>
                <a:latin typeface="Source Sans 3"/>
                <a:ea typeface="Source Sans 3"/>
                <a:cs typeface="Source Sans 3"/>
                <a:sym typeface="Source Sans 3"/>
              </a:rPr>
              <a:t>Bajo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430250" y="7305675"/>
            <a:ext cx="247650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2100">
                <a:solidFill>
                  <a:srgbClr val="10233B"/>
                </a:solidFill>
                <a:latin typeface="Source Sans 3"/>
                <a:ea typeface="Source Sans 3"/>
                <a:cs typeface="Source Sans 3"/>
                <a:sym typeface="Source Sans 3"/>
              </a:rPr>
              <a:t>Medio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7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723900"/>
            <a:ext cx="14287500" cy="579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43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Solución elegida: arreglos paralelos + archivo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52500" y="1685925"/>
            <a:ext cx="14287500" cy="408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2"/>
              </a:lnSpc>
            </a:pPr>
            <a:r>
              <a:rPr lang="en-US" sz="2550">
                <a:solidFill>
                  <a:srgbClr val="BCD1E6"/>
                </a:solidFill>
                <a:latin typeface="Source Sans 3"/>
                <a:ea typeface="Source Sans 3"/>
                <a:cs typeface="Source Sans 3"/>
                <a:sym typeface="Source Sans 3"/>
              </a:rPr>
              <a:t>Cumple todos los requerimientos · costo cero · control local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52500" y="3048000"/>
            <a:ext cx="8096250" cy="2952750"/>
            <a:chOff x="0" y="0"/>
            <a:chExt cx="10795000" cy="3937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795000" cy="3937000"/>
            </a:xfrm>
            <a:custGeom>
              <a:avLst/>
              <a:gdLst/>
              <a:ahLst/>
              <a:cxnLst/>
              <a:rect r="r" b="b" t="t" l="l"/>
              <a:pathLst>
                <a:path h="3937000" w="10795000">
                  <a:moveTo>
                    <a:pt x="0" y="0"/>
                  </a:moveTo>
                  <a:lnTo>
                    <a:pt x="10795000" y="0"/>
                  </a:lnTo>
                  <a:lnTo>
                    <a:pt x="10795000" y="3937000"/>
                  </a:lnTo>
                  <a:lnTo>
                    <a:pt x="0" y="3937000"/>
                  </a:lnTo>
                  <a:close/>
                </a:path>
              </a:pathLst>
            </a:custGeom>
            <a:solidFill>
              <a:srgbClr val="0D3154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0795000" cy="397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143000" y="3514725"/>
            <a:ext cx="2095500" cy="1936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77"/>
              </a:lnSpc>
            </a:pPr>
            <a:r>
              <a:rPr lang="en-US" sz="14250" b="true">
                <a:solidFill>
                  <a:srgbClr val="20B8C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333750" y="3657600"/>
            <a:ext cx="5334000" cy="1214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89"/>
              </a:lnSpc>
            </a:pPr>
            <a:r>
              <a:rPr lang="en-US" sz="46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ARREGLOS</a:t>
            </a:r>
          </a:p>
          <a:p>
            <a:pPr algn="l">
              <a:lnSpc>
                <a:spcPts val="4789"/>
              </a:lnSpc>
            </a:pPr>
            <a:r>
              <a:rPr lang="en-US" sz="46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PARALELOS</a:t>
            </a:r>
          </a:p>
        </p:txBody>
      </p:sp>
      <p:sp>
        <p:nvSpPr>
          <p:cNvPr name="AutoShape 9" id="9"/>
          <p:cNvSpPr/>
          <p:nvPr/>
        </p:nvSpPr>
        <p:spPr>
          <a:xfrm>
            <a:off x="8858250" y="4524375"/>
            <a:ext cx="1238250" cy="0"/>
          </a:xfrm>
          <a:prstGeom prst="line">
            <a:avLst/>
          </a:prstGeom>
          <a:ln cap="rnd" w="47625">
            <a:solidFill>
              <a:srgbClr val="20B8CD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0" id="10"/>
          <p:cNvGrpSpPr/>
          <p:nvPr/>
        </p:nvGrpSpPr>
        <p:grpSpPr>
          <a:xfrm rot="0">
            <a:off x="10287000" y="3048000"/>
            <a:ext cx="7048500" cy="2952750"/>
            <a:chOff x="0" y="0"/>
            <a:chExt cx="9398000" cy="3937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398000" cy="3937000"/>
            </a:xfrm>
            <a:custGeom>
              <a:avLst/>
              <a:gdLst/>
              <a:ahLst/>
              <a:cxnLst/>
              <a:rect r="r" b="b" t="t" l="l"/>
              <a:pathLst>
                <a:path h="3937000" w="9398000">
                  <a:moveTo>
                    <a:pt x="0" y="0"/>
                  </a:moveTo>
                  <a:lnTo>
                    <a:pt x="9398000" y="0"/>
                  </a:lnTo>
                  <a:lnTo>
                    <a:pt x="9398000" y="3937000"/>
                  </a:lnTo>
                  <a:lnTo>
                    <a:pt x="0" y="3937000"/>
                  </a:lnTo>
                  <a:close/>
                </a:path>
              </a:pathLst>
            </a:custGeom>
            <a:solidFill>
              <a:srgbClr val="0D3154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9398000" cy="397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572750" y="3667125"/>
            <a:ext cx="6191250" cy="572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57"/>
              </a:lnSpc>
            </a:pPr>
            <a:r>
              <a:rPr lang="en-US" sz="3450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EXP-2026-00001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572750" y="4448175"/>
            <a:ext cx="619125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20B8CD"/>
                </a:solidFill>
                <a:latin typeface="Source Sans 3"/>
                <a:ea typeface="Source Sans 3"/>
                <a:cs typeface="Source Sans 3"/>
                <a:sym typeface="Source Sans 3"/>
              </a:rPr>
              <a:t>código único = clave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333750" y="6772275"/>
            <a:ext cx="11430000" cy="1011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7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Búsqueda lineal O(n)  →  binaria O(log n)</a:t>
            </a:r>
          </a:p>
          <a:p>
            <a:pPr algn="l">
              <a:lnSpc>
                <a:spcPts val="4050"/>
              </a:lnSpc>
            </a:pPr>
            <a:r>
              <a:rPr lang="en-US" sz="27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Orden lexicográfico con ceros a la izquierda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714375"/>
            <a:ext cx="14287500" cy="587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true">
                <a:solidFill>
                  <a:srgbClr val="1023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Organización modular en Python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57250" y="3619500"/>
            <a:ext cx="2667000" cy="1809750"/>
            <a:chOff x="0" y="0"/>
            <a:chExt cx="3556000" cy="2413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556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3556000">
                  <a:moveTo>
                    <a:pt x="81643" y="0"/>
                  </a:moveTo>
                  <a:lnTo>
                    <a:pt x="3474357" y="0"/>
                  </a:lnTo>
                  <a:cubicBezTo>
                    <a:pt x="3519447" y="0"/>
                    <a:pt x="3556000" y="36553"/>
                    <a:pt x="3556000" y="81643"/>
                  </a:cubicBezTo>
                  <a:lnTo>
                    <a:pt x="3556000" y="2331357"/>
                  </a:lnTo>
                  <a:cubicBezTo>
                    <a:pt x="3556000" y="2376447"/>
                    <a:pt x="3519447" y="2413000"/>
                    <a:pt x="3474357" y="2413000"/>
                  </a:cubicBezTo>
                  <a:lnTo>
                    <a:pt x="81643" y="2413000"/>
                  </a:lnTo>
                  <a:cubicBezTo>
                    <a:pt x="36553" y="2413000"/>
                    <a:pt x="0" y="2376447"/>
                    <a:pt x="0" y="2331357"/>
                  </a:cubicBezTo>
                  <a:lnTo>
                    <a:pt x="0" y="81643"/>
                  </a:lnTo>
                  <a:cubicBezTo>
                    <a:pt x="0" y="36553"/>
                    <a:pt x="36553" y="0"/>
                    <a:pt x="81643" y="0"/>
                  </a:cubicBezTo>
                  <a:close/>
                </a:path>
              </a:pathLst>
            </a:custGeom>
            <a:solidFill>
              <a:srgbClr val="071B33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9525"/>
              <a:ext cx="3556000" cy="2403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main.py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coordina el menú</a:t>
              </a:r>
            </a:p>
          </p:txBody>
        </p:sp>
      </p:grpSp>
      <p:sp>
        <p:nvSpPr>
          <p:cNvPr name="AutoShape 6" id="6"/>
          <p:cNvSpPr/>
          <p:nvPr/>
        </p:nvSpPr>
        <p:spPr>
          <a:xfrm>
            <a:off x="3524250" y="4524375"/>
            <a:ext cx="666750" cy="0"/>
          </a:xfrm>
          <a:prstGeom prst="line">
            <a:avLst/>
          </a:prstGeom>
          <a:ln cap="rnd" w="47625">
            <a:solidFill>
              <a:srgbClr val="20B8CD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7" id="7"/>
          <p:cNvGrpSpPr/>
          <p:nvPr/>
        </p:nvGrpSpPr>
        <p:grpSpPr>
          <a:xfrm rot="0">
            <a:off x="4333875" y="3619500"/>
            <a:ext cx="2667000" cy="1809750"/>
            <a:chOff x="0" y="0"/>
            <a:chExt cx="3556000" cy="2413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556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3556000">
                  <a:moveTo>
                    <a:pt x="81643" y="0"/>
                  </a:moveTo>
                  <a:lnTo>
                    <a:pt x="3474357" y="0"/>
                  </a:lnTo>
                  <a:cubicBezTo>
                    <a:pt x="3519447" y="0"/>
                    <a:pt x="3556000" y="36553"/>
                    <a:pt x="3556000" y="81643"/>
                  </a:cubicBezTo>
                  <a:lnTo>
                    <a:pt x="3556000" y="2331357"/>
                  </a:lnTo>
                  <a:cubicBezTo>
                    <a:pt x="3556000" y="2376447"/>
                    <a:pt x="3519447" y="2413000"/>
                    <a:pt x="3474357" y="2413000"/>
                  </a:cubicBezTo>
                  <a:lnTo>
                    <a:pt x="81643" y="2413000"/>
                  </a:lnTo>
                  <a:cubicBezTo>
                    <a:pt x="36553" y="2413000"/>
                    <a:pt x="0" y="2376447"/>
                    <a:pt x="0" y="2331357"/>
                  </a:cubicBezTo>
                  <a:lnTo>
                    <a:pt x="0" y="81643"/>
                  </a:lnTo>
                  <a:cubicBezTo>
                    <a:pt x="0" y="36553"/>
                    <a:pt x="36553" y="0"/>
                    <a:pt x="81643" y="0"/>
                  </a:cubicBezTo>
                  <a:close/>
                </a:path>
              </a:pathLst>
            </a:custGeom>
            <a:solidFill>
              <a:srgbClr val="176BAF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3556000" cy="2403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registro.py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valida y registra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>
            <a:off x="7000875" y="4524375"/>
            <a:ext cx="666750" cy="0"/>
          </a:xfrm>
          <a:prstGeom prst="line">
            <a:avLst/>
          </a:prstGeom>
          <a:ln cap="rnd" w="47625">
            <a:solidFill>
              <a:srgbClr val="20B8CD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1" id="11"/>
          <p:cNvGrpSpPr/>
          <p:nvPr/>
        </p:nvGrpSpPr>
        <p:grpSpPr>
          <a:xfrm rot="0">
            <a:off x="7810500" y="3619500"/>
            <a:ext cx="2667000" cy="1809750"/>
            <a:chOff x="0" y="0"/>
            <a:chExt cx="3556000" cy="2413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556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3556000">
                  <a:moveTo>
                    <a:pt x="81643" y="0"/>
                  </a:moveTo>
                  <a:lnTo>
                    <a:pt x="3474357" y="0"/>
                  </a:lnTo>
                  <a:cubicBezTo>
                    <a:pt x="3519447" y="0"/>
                    <a:pt x="3556000" y="36553"/>
                    <a:pt x="3556000" y="81643"/>
                  </a:cubicBezTo>
                  <a:lnTo>
                    <a:pt x="3556000" y="2331357"/>
                  </a:lnTo>
                  <a:cubicBezTo>
                    <a:pt x="3556000" y="2376447"/>
                    <a:pt x="3519447" y="2413000"/>
                    <a:pt x="3474357" y="2413000"/>
                  </a:cubicBezTo>
                  <a:lnTo>
                    <a:pt x="81643" y="2413000"/>
                  </a:lnTo>
                  <a:cubicBezTo>
                    <a:pt x="36553" y="2413000"/>
                    <a:pt x="0" y="2376447"/>
                    <a:pt x="0" y="2331357"/>
                  </a:cubicBezTo>
                  <a:lnTo>
                    <a:pt x="0" y="81643"/>
                  </a:lnTo>
                  <a:cubicBezTo>
                    <a:pt x="0" y="36553"/>
                    <a:pt x="36553" y="0"/>
                    <a:pt x="81643" y="0"/>
                  </a:cubicBezTo>
                  <a:close/>
                </a:path>
              </a:pathLst>
            </a:custGeom>
            <a:solidFill>
              <a:srgbClr val="176BAF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9525"/>
              <a:ext cx="3556000" cy="2403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busqueda.py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localiza expedientes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>
            <a:off x="10477500" y="4524375"/>
            <a:ext cx="666750" cy="0"/>
          </a:xfrm>
          <a:prstGeom prst="line">
            <a:avLst/>
          </a:prstGeom>
          <a:ln cap="rnd" w="47625">
            <a:solidFill>
              <a:srgbClr val="20B8CD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5" id="15"/>
          <p:cNvGrpSpPr/>
          <p:nvPr/>
        </p:nvGrpSpPr>
        <p:grpSpPr>
          <a:xfrm rot="0">
            <a:off x="11287125" y="3619500"/>
            <a:ext cx="2667000" cy="1809750"/>
            <a:chOff x="0" y="0"/>
            <a:chExt cx="3556000" cy="2413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556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3556000">
                  <a:moveTo>
                    <a:pt x="81643" y="0"/>
                  </a:moveTo>
                  <a:lnTo>
                    <a:pt x="3474357" y="0"/>
                  </a:lnTo>
                  <a:cubicBezTo>
                    <a:pt x="3519447" y="0"/>
                    <a:pt x="3556000" y="36553"/>
                    <a:pt x="3556000" y="81643"/>
                  </a:cubicBezTo>
                  <a:lnTo>
                    <a:pt x="3556000" y="2331357"/>
                  </a:lnTo>
                  <a:cubicBezTo>
                    <a:pt x="3556000" y="2376447"/>
                    <a:pt x="3519447" y="2413000"/>
                    <a:pt x="3474357" y="2413000"/>
                  </a:cubicBezTo>
                  <a:lnTo>
                    <a:pt x="81643" y="2413000"/>
                  </a:lnTo>
                  <a:cubicBezTo>
                    <a:pt x="36553" y="2413000"/>
                    <a:pt x="0" y="2376447"/>
                    <a:pt x="0" y="2331357"/>
                  </a:cubicBezTo>
                  <a:lnTo>
                    <a:pt x="0" y="81643"/>
                  </a:lnTo>
                  <a:cubicBezTo>
                    <a:pt x="0" y="36553"/>
                    <a:pt x="36553" y="0"/>
                    <a:pt x="81643" y="0"/>
                  </a:cubicBezTo>
                  <a:close/>
                </a:path>
              </a:pathLst>
            </a:custGeom>
            <a:solidFill>
              <a:srgbClr val="176BAF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9525"/>
              <a:ext cx="3556000" cy="2403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ordenamiento.py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organiza registros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>
            <a:off x="13954125" y="4524375"/>
            <a:ext cx="666750" cy="0"/>
          </a:xfrm>
          <a:prstGeom prst="line">
            <a:avLst/>
          </a:prstGeom>
          <a:ln cap="rnd" w="47625">
            <a:solidFill>
              <a:srgbClr val="20B8CD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9" id="19"/>
          <p:cNvGrpSpPr/>
          <p:nvPr/>
        </p:nvGrpSpPr>
        <p:grpSpPr>
          <a:xfrm rot="0">
            <a:off x="14763750" y="3619500"/>
            <a:ext cx="2667000" cy="1809750"/>
            <a:chOff x="0" y="0"/>
            <a:chExt cx="3556000" cy="2413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556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3556000">
                  <a:moveTo>
                    <a:pt x="81643" y="0"/>
                  </a:moveTo>
                  <a:lnTo>
                    <a:pt x="3474357" y="0"/>
                  </a:lnTo>
                  <a:cubicBezTo>
                    <a:pt x="3519447" y="0"/>
                    <a:pt x="3556000" y="36553"/>
                    <a:pt x="3556000" y="81643"/>
                  </a:cubicBezTo>
                  <a:lnTo>
                    <a:pt x="3556000" y="2331357"/>
                  </a:lnTo>
                  <a:cubicBezTo>
                    <a:pt x="3556000" y="2376447"/>
                    <a:pt x="3519447" y="2413000"/>
                    <a:pt x="3474357" y="2413000"/>
                  </a:cubicBezTo>
                  <a:lnTo>
                    <a:pt x="81643" y="2413000"/>
                  </a:lnTo>
                  <a:cubicBezTo>
                    <a:pt x="36553" y="2413000"/>
                    <a:pt x="0" y="2376447"/>
                    <a:pt x="0" y="2331357"/>
                  </a:cubicBezTo>
                  <a:lnTo>
                    <a:pt x="0" y="81643"/>
                  </a:lnTo>
                  <a:cubicBezTo>
                    <a:pt x="0" y="36553"/>
                    <a:pt x="36553" y="0"/>
                    <a:pt x="81643" y="0"/>
                  </a:cubicBezTo>
                  <a:close/>
                </a:path>
              </a:pathLst>
            </a:custGeom>
            <a:solidFill>
              <a:srgbClr val="23A47B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9525"/>
              <a:ext cx="3556000" cy="2403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archivo.py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persiste los datos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2381250" y="7277100"/>
            <a:ext cx="13525500" cy="354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6"/>
              </a:lnSpc>
            </a:pPr>
            <a:r>
              <a:rPr lang="en-US" sz="2625" b="true">
                <a:solidFill>
                  <a:srgbClr val="1023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Una responsabilidad por módulo. Menor acoplamiento, pruebas más simples.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714375"/>
            <a:ext cx="14287500" cy="587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true">
                <a:solidFill>
                  <a:srgbClr val="1023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Estructuras de datos y persistencia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143000" y="2524125"/>
            <a:ext cx="2571750" cy="762000"/>
            <a:chOff x="0" y="0"/>
            <a:chExt cx="3429000" cy="1016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3429000" cy="1016000"/>
              <a:chOff x="0" y="0"/>
              <a:chExt cx="3429000" cy="1016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3429000" cy="1016000"/>
              </a:xfrm>
              <a:custGeom>
                <a:avLst/>
                <a:gdLst/>
                <a:ahLst/>
                <a:cxnLst/>
                <a:rect r="r" b="b" t="t" l="l"/>
                <a:pathLst>
                  <a:path h="1016000" w="3429000">
                    <a:moveTo>
                      <a:pt x="0" y="0"/>
                    </a:moveTo>
                    <a:lnTo>
                      <a:pt x="3429000" y="0"/>
                    </a:lnTo>
                    <a:lnTo>
                      <a:pt x="3429000" y="1016000"/>
                    </a:lnTo>
                    <a:lnTo>
                      <a:pt x="0" y="1016000"/>
                    </a:lnTo>
                    <a:close/>
                  </a:path>
                </a:pathLst>
              </a:custGeom>
              <a:solidFill>
                <a:srgbClr val="176BA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3429000" cy="105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127000" y="225425"/>
              <a:ext cx="3175000" cy="4235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32"/>
                </a:lnSpc>
              </a:pPr>
              <a:r>
                <a:rPr lang="en-US" sz="1950">
                  <a:solidFill>
                    <a:srgbClr val="10233B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códigos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095750" y="2524125"/>
            <a:ext cx="2571750" cy="762000"/>
            <a:chOff x="0" y="0"/>
            <a:chExt cx="3429000" cy="101600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3429000" cy="1016000"/>
              <a:chOff x="0" y="0"/>
              <a:chExt cx="3429000" cy="10160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3429000" cy="1016000"/>
              </a:xfrm>
              <a:custGeom>
                <a:avLst/>
                <a:gdLst/>
                <a:ahLst/>
                <a:cxnLst/>
                <a:rect r="r" b="b" t="t" l="l"/>
                <a:pathLst>
                  <a:path h="1016000" w="3429000">
                    <a:moveTo>
                      <a:pt x="0" y="0"/>
                    </a:moveTo>
                    <a:lnTo>
                      <a:pt x="3429000" y="0"/>
                    </a:lnTo>
                    <a:lnTo>
                      <a:pt x="3429000" y="1016000"/>
                    </a:lnTo>
                    <a:lnTo>
                      <a:pt x="0" y="1016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3429000" cy="105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127000" y="225425"/>
              <a:ext cx="3175000" cy="4235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32"/>
                </a:lnSpc>
              </a:pPr>
              <a:r>
                <a:rPr lang="en-US" sz="1950">
                  <a:solidFill>
                    <a:srgbClr val="10233B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DNI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048500" y="2524125"/>
            <a:ext cx="2571750" cy="762000"/>
            <a:chOff x="0" y="0"/>
            <a:chExt cx="3429000" cy="1016000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3429000" cy="1016000"/>
              <a:chOff x="0" y="0"/>
              <a:chExt cx="3429000" cy="10160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3429000" cy="1016000"/>
              </a:xfrm>
              <a:custGeom>
                <a:avLst/>
                <a:gdLst/>
                <a:ahLst/>
                <a:cxnLst/>
                <a:rect r="r" b="b" t="t" l="l"/>
                <a:pathLst>
                  <a:path h="1016000" w="3429000">
                    <a:moveTo>
                      <a:pt x="0" y="0"/>
                    </a:moveTo>
                    <a:lnTo>
                      <a:pt x="3429000" y="0"/>
                    </a:lnTo>
                    <a:lnTo>
                      <a:pt x="3429000" y="1016000"/>
                    </a:lnTo>
                    <a:lnTo>
                      <a:pt x="0" y="1016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3429000" cy="105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127000" y="225425"/>
              <a:ext cx="3175000" cy="4235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32"/>
                </a:lnSpc>
              </a:pPr>
              <a:r>
                <a:rPr lang="en-US" sz="1950">
                  <a:solidFill>
                    <a:srgbClr val="10233B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nombres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001250" y="2524125"/>
            <a:ext cx="2571750" cy="762000"/>
            <a:chOff x="0" y="0"/>
            <a:chExt cx="3429000" cy="1016000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3429000" cy="1016000"/>
              <a:chOff x="0" y="0"/>
              <a:chExt cx="3429000" cy="10160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3429000" cy="1016000"/>
              </a:xfrm>
              <a:custGeom>
                <a:avLst/>
                <a:gdLst/>
                <a:ahLst/>
                <a:cxnLst/>
                <a:rect r="r" b="b" t="t" l="l"/>
                <a:pathLst>
                  <a:path h="1016000" w="3429000">
                    <a:moveTo>
                      <a:pt x="0" y="0"/>
                    </a:moveTo>
                    <a:lnTo>
                      <a:pt x="3429000" y="0"/>
                    </a:lnTo>
                    <a:lnTo>
                      <a:pt x="3429000" y="1016000"/>
                    </a:lnTo>
                    <a:lnTo>
                      <a:pt x="0" y="1016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3429000" cy="105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127000" y="225425"/>
              <a:ext cx="3175000" cy="4235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32"/>
                </a:lnSpc>
              </a:pPr>
              <a:r>
                <a:rPr lang="en-US" sz="1950">
                  <a:solidFill>
                    <a:srgbClr val="10233B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asuntos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43000" y="3667125"/>
            <a:ext cx="2571750" cy="762000"/>
            <a:chOff x="0" y="0"/>
            <a:chExt cx="3429000" cy="1016000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3429000" cy="1016000"/>
              <a:chOff x="0" y="0"/>
              <a:chExt cx="3429000" cy="10160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3429000" cy="1016000"/>
              </a:xfrm>
              <a:custGeom>
                <a:avLst/>
                <a:gdLst/>
                <a:ahLst/>
                <a:cxnLst/>
                <a:rect r="r" b="b" t="t" l="l"/>
                <a:pathLst>
                  <a:path h="1016000" w="3429000">
                    <a:moveTo>
                      <a:pt x="0" y="0"/>
                    </a:moveTo>
                    <a:lnTo>
                      <a:pt x="3429000" y="0"/>
                    </a:lnTo>
                    <a:lnTo>
                      <a:pt x="3429000" y="1016000"/>
                    </a:lnTo>
                    <a:lnTo>
                      <a:pt x="0" y="1016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38100"/>
                <a:ext cx="3429000" cy="105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127000" y="225425"/>
              <a:ext cx="3175000" cy="4235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32"/>
                </a:lnSpc>
              </a:pPr>
              <a:r>
                <a:rPr lang="en-US" sz="1950">
                  <a:solidFill>
                    <a:srgbClr val="10233B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tipos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4095750" y="3667125"/>
            <a:ext cx="2571750" cy="762000"/>
            <a:chOff x="0" y="0"/>
            <a:chExt cx="3429000" cy="1016000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3429000" cy="1016000"/>
              <a:chOff x="0" y="0"/>
              <a:chExt cx="3429000" cy="10160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3429000" cy="1016000"/>
              </a:xfrm>
              <a:custGeom>
                <a:avLst/>
                <a:gdLst/>
                <a:ahLst/>
                <a:cxnLst/>
                <a:rect r="r" b="b" t="t" l="l"/>
                <a:pathLst>
                  <a:path h="1016000" w="3429000">
                    <a:moveTo>
                      <a:pt x="0" y="0"/>
                    </a:moveTo>
                    <a:lnTo>
                      <a:pt x="3429000" y="0"/>
                    </a:lnTo>
                    <a:lnTo>
                      <a:pt x="3429000" y="1016000"/>
                    </a:lnTo>
                    <a:lnTo>
                      <a:pt x="0" y="1016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38100"/>
                <a:ext cx="3429000" cy="105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127000" y="225425"/>
              <a:ext cx="3175000" cy="4235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32"/>
                </a:lnSpc>
              </a:pPr>
              <a:r>
                <a:rPr lang="en-US" sz="1950">
                  <a:solidFill>
                    <a:srgbClr val="10233B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folios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7048500" y="3667125"/>
            <a:ext cx="2571750" cy="762000"/>
            <a:chOff x="0" y="0"/>
            <a:chExt cx="3429000" cy="1016000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3429000" cy="1016000"/>
              <a:chOff x="0" y="0"/>
              <a:chExt cx="3429000" cy="10160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3429000" cy="1016000"/>
              </a:xfrm>
              <a:custGeom>
                <a:avLst/>
                <a:gdLst/>
                <a:ahLst/>
                <a:cxnLst/>
                <a:rect r="r" b="b" t="t" l="l"/>
                <a:pathLst>
                  <a:path h="1016000" w="3429000">
                    <a:moveTo>
                      <a:pt x="0" y="0"/>
                    </a:moveTo>
                    <a:lnTo>
                      <a:pt x="3429000" y="0"/>
                    </a:lnTo>
                    <a:lnTo>
                      <a:pt x="3429000" y="1016000"/>
                    </a:lnTo>
                    <a:lnTo>
                      <a:pt x="0" y="1016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38100"/>
                <a:ext cx="3429000" cy="105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7" id="37"/>
            <p:cNvSpPr txBox="true"/>
            <p:nvPr/>
          </p:nvSpPr>
          <p:spPr>
            <a:xfrm rot="0">
              <a:off x="127000" y="225425"/>
              <a:ext cx="3175000" cy="4235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32"/>
                </a:lnSpc>
              </a:pPr>
              <a:r>
                <a:rPr lang="en-US" sz="1950">
                  <a:solidFill>
                    <a:srgbClr val="10233B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áreas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001250" y="3667125"/>
            <a:ext cx="2571750" cy="762000"/>
            <a:chOff x="0" y="0"/>
            <a:chExt cx="3429000" cy="1016000"/>
          </a:xfrm>
        </p:grpSpPr>
        <p:grpSp>
          <p:nvGrpSpPr>
            <p:cNvPr name="Group 39" id="39"/>
            <p:cNvGrpSpPr/>
            <p:nvPr/>
          </p:nvGrpSpPr>
          <p:grpSpPr>
            <a:xfrm rot="0">
              <a:off x="0" y="0"/>
              <a:ext cx="3429000" cy="1016000"/>
              <a:chOff x="0" y="0"/>
              <a:chExt cx="3429000" cy="10160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3429000" cy="1016000"/>
              </a:xfrm>
              <a:custGeom>
                <a:avLst/>
                <a:gdLst/>
                <a:ahLst/>
                <a:cxnLst/>
                <a:rect r="r" b="b" t="t" l="l"/>
                <a:pathLst>
                  <a:path h="1016000" w="3429000">
                    <a:moveTo>
                      <a:pt x="0" y="0"/>
                    </a:moveTo>
                    <a:lnTo>
                      <a:pt x="3429000" y="0"/>
                    </a:lnTo>
                    <a:lnTo>
                      <a:pt x="3429000" y="1016000"/>
                    </a:lnTo>
                    <a:lnTo>
                      <a:pt x="0" y="1016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38100"/>
                <a:ext cx="3429000" cy="105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2" id="42"/>
            <p:cNvSpPr txBox="true"/>
            <p:nvPr/>
          </p:nvSpPr>
          <p:spPr>
            <a:xfrm rot="0">
              <a:off x="127000" y="225425"/>
              <a:ext cx="3175000" cy="4235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32"/>
                </a:lnSpc>
              </a:pPr>
              <a:r>
                <a:rPr lang="en-US" sz="1950">
                  <a:solidFill>
                    <a:srgbClr val="10233B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fechas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143000" y="5295900"/>
            <a:ext cx="11049000" cy="401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400" b="true">
                <a:solidFill>
                  <a:srgbClr val="176BA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La posición i representa el mismo expediente en los ocho arreglos.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952500" y="6381750"/>
            <a:ext cx="16383000" cy="1809750"/>
            <a:chOff x="0" y="0"/>
            <a:chExt cx="21844000" cy="2413000"/>
          </a:xfrm>
        </p:grpSpPr>
        <p:grpSp>
          <p:nvGrpSpPr>
            <p:cNvPr name="Group 45" id="45"/>
            <p:cNvGrpSpPr/>
            <p:nvPr/>
          </p:nvGrpSpPr>
          <p:grpSpPr>
            <a:xfrm rot="0">
              <a:off x="0" y="0"/>
              <a:ext cx="21844000" cy="2413000"/>
              <a:chOff x="0" y="0"/>
              <a:chExt cx="21844000" cy="241300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21844000" cy="2413000"/>
              </a:xfrm>
              <a:custGeom>
                <a:avLst/>
                <a:gdLst/>
                <a:ahLst/>
                <a:cxnLst/>
                <a:rect r="r" b="b" t="t" l="l"/>
                <a:pathLst>
                  <a:path h="2413000" w="21844000">
                    <a:moveTo>
                      <a:pt x="0" y="0"/>
                    </a:moveTo>
                    <a:lnTo>
                      <a:pt x="21844000" y="0"/>
                    </a:lnTo>
                    <a:lnTo>
                      <a:pt x="21844000" y="2413000"/>
                    </a:lnTo>
                    <a:lnTo>
                      <a:pt x="0" y="2413000"/>
                    </a:lnTo>
                    <a:close/>
                  </a:path>
                </a:pathLst>
              </a:custGeom>
              <a:solidFill>
                <a:srgbClr val="071B3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-38100"/>
                <a:ext cx="21844000" cy="245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8" id="48"/>
            <p:cNvSpPr txBox="true"/>
            <p:nvPr/>
          </p:nvSpPr>
          <p:spPr>
            <a:xfrm rot="0">
              <a:off x="254000" y="469900"/>
              <a:ext cx="21336000" cy="9010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EXP-2026-00001 | 45678912 | ANA TORRES QUISPE | SOLICITUD DE LICENCIA | SOLICITUD | 3 | LICENCIAS | 20/10/2026 09:15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714375"/>
            <a:ext cx="14287500" cy="587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true">
                <a:solidFill>
                  <a:srgbClr val="1023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Diseño algorítmico: lógica principal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52500" y="1905000"/>
            <a:ext cx="10668000" cy="7239000"/>
            <a:chOff x="0" y="0"/>
            <a:chExt cx="14224000" cy="9652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4224000" cy="9652000"/>
              <a:chOff x="0" y="0"/>
              <a:chExt cx="14224000" cy="9652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4224000" cy="9652000"/>
              </a:xfrm>
              <a:custGeom>
                <a:avLst/>
                <a:gdLst/>
                <a:ahLst/>
                <a:cxnLst/>
                <a:rect r="r" b="b" t="t" l="l"/>
                <a:pathLst>
                  <a:path h="9652000" w="14224000">
                    <a:moveTo>
                      <a:pt x="0" y="0"/>
                    </a:moveTo>
                    <a:lnTo>
                      <a:pt x="14224000" y="0"/>
                    </a:lnTo>
                    <a:lnTo>
                      <a:pt x="14224000" y="9652000"/>
                    </a:lnTo>
                    <a:lnTo>
                      <a:pt x="0" y="9652000"/>
                    </a:lnTo>
                    <a:close/>
                  </a:path>
                </a:pathLst>
              </a:custGeom>
              <a:solidFill>
                <a:srgbClr val="071B3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14224000" cy="969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0" y="0"/>
              <a:ext cx="228600" cy="9652000"/>
              <a:chOff x="0" y="0"/>
              <a:chExt cx="228600" cy="96520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28600" cy="9652000"/>
              </a:xfrm>
              <a:custGeom>
                <a:avLst/>
                <a:gdLst/>
                <a:ahLst/>
                <a:cxnLst/>
                <a:rect r="r" b="b" t="t" l="l"/>
                <a:pathLst>
                  <a:path h="96520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9652000"/>
                    </a:lnTo>
                    <a:lnTo>
                      <a:pt x="0" y="9652000"/>
                    </a:lnTo>
                    <a:close/>
                  </a:path>
                </a:pathLst>
              </a:custGeom>
              <a:solidFill>
                <a:srgbClr val="20B8C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228600" cy="969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1016000" y="533400"/>
              <a:ext cx="12065000" cy="63550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95"/>
                </a:lnSpc>
              </a:pPr>
              <a:r>
                <a:rPr lang="en-US" sz="225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INICIO</a:t>
              </a:r>
            </a:p>
            <a:p>
              <a:pPr algn="l">
                <a:lnSpc>
                  <a:spcPts val="3195"/>
                </a:lnSpc>
              </a:pPr>
              <a:r>
                <a:rPr lang="en-US" sz="225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cargar_expedientes()</a:t>
              </a:r>
            </a:p>
            <a:p>
              <a:pPr algn="l">
                <a:lnSpc>
                  <a:spcPts val="3195"/>
                </a:lnSpc>
              </a:pPr>
              <a:r>
                <a:rPr lang="en-US" sz="225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REPETIR</a:t>
              </a:r>
            </a:p>
            <a:p>
              <a:pPr algn="l">
                <a:lnSpc>
                  <a:spcPts val="3195"/>
                </a:lnSpc>
              </a:pPr>
              <a:r>
                <a:rPr lang="en-US" sz="225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mostrar_menu()</a:t>
              </a:r>
            </a:p>
            <a:p>
              <a:pPr algn="l">
                <a:lnSpc>
                  <a:spcPts val="3195"/>
                </a:lnSpc>
              </a:pPr>
              <a:r>
                <a:rPr lang="en-US" sz="225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opción ← leer()</a:t>
              </a:r>
            </a:p>
            <a:p>
              <a:pPr algn="l">
                <a:lnSpc>
                  <a:spcPts val="3195"/>
                </a:lnSpc>
              </a:pPr>
              <a:r>
                <a:rPr lang="en-US" sz="225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SEGÚN opción HACER</a:t>
              </a:r>
            </a:p>
            <a:p>
              <a:pPr algn="l">
                <a:lnSpc>
                  <a:spcPts val="3195"/>
                </a:lnSpc>
              </a:pPr>
              <a:r>
                <a:rPr lang="en-US" sz="225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  1: registrar()   2: buscar()</a:t>
              </a:r>
            </a:p>
            <a:p>
              <a:pPr algn="l">
                <a:lnSpc>
                  <a:spcPts val="3195"/>
                </a:lnSpc>
              </a:pPr>
              <a:r>
                <a:rPr lang="en-US" sz="225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  3: ordenar()     4: listar()</a:t>
              </a:r>
            </a:p>
            <a:p>
              <a:pPr algn="l">
                <a:lnSpc>
                  <a:spcPts val="3195"/>
                </a:lnSpc>
              </a:pPr>
              <a:r>
                <a:rPr lang="en-US" sz="225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  5: guardar(); salir</a:t>
              </a:r>
            </a:p>
            <a:p>
              <a:pPr algn="l">
                <a:lnSpc>
                  <a:spcPts val="3195"/>
                </a:lnSpc>
              </a:pPr>
              <a:r>
                <a:rPr lang="en-US" sz="225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  FIN SEGÚN</a:t>
              </a:r>
            </a:p>
            <a:p>
              <a:pPr algn="l">
                <a:lnSpc>
                  <a:spcPts val="3195"/>
                </a:lnSpc>
              </a:pPr>
              <a:r>
                <a:rPr lang="en-US" sz="225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  HASTA opción = 5</a:t>
              </a:r>
            </a:p>
            <a:p>
              <a:pPr algn="l">
                <a:lnSpc>
                  <a:spcPts val="3195"/>
                </a:lnSpc>
              </a:pPr>
              <a:r>
                <a:rPr lang="en-US" sz="2250">
                  <a:solidFill>
                    <a:srgbClr val="FFFFF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FIN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2287250" y="3171825"/>
            <a:ext cx="4095750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2250" b="true">
                <a:solidFill>
                  <a:srgbClr val="1023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Ciclo controlado por menú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287250" y="4257675"/>
            <a:ext cx="4095750" cy="747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58708A"/>
                </a:solidFill>
                <a:latin typeface="Source Sans 3"/>
                <a:ea typeface="Source Sans 3"/>
                <a:cs typeface="Source Sans 3"/>
                <a:sym typeface="Source Sans 3"/>
              </a:rPr>
              <a:t>Cada opción delega una tarea a su módulo correspondiente.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714375"/>
            <a:ext cx="14287500" cy="587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true">
                <a:solidFill>
                  <a:srgbClr val="1023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Diagrama de flujo del sistema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47750" y="4191000"/>
            <a:ext cx="1809750" cy="952500"/>
            <a:chOff x="0" y="0"/>
            <a:chExt cx="2413000" cy="127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13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2413000">
                  <a:moveTo>
                    <a:pt x="120316" y="0"/>
                  </a:moveTo>
                  <a:lnTo>
                    <a:pt x="2292684" y="0"/>
                  </a:lnTo>
                  <a:cubicBezTo>
                    <a:pt x="2324594" y="0"/>
                    <a:pt x="2355197" y="12676"/>
                    <a:pt x="2377760" y="35240"/>
                  </a:cubicBezTo>
                  <a:cubicBezTo>
                    <a:pt x="2400324" y="57803"/>
                    <a:pt x="2413000" y="88406"/>
                    <a:pt x="2413000" y="120316"/>
                  </a:cubicBezTo>
                  <a:lnTo>
                    <a:pt x="2413000" y="1149684"/>
                  </a:lnTo>
                  <a:cubicBezTo>
                    <a:pt x="2413000" y="1181594"/>
                    <a:pt x="2400324" y="1212197"/>
                    <a:pt x="2377760" y="1234760"/>
                  </a:cubicBezTo>
                  <a:cubicBezTo>
                    <a:pt x="2355197" y="1257324"/>
                    <a:pt x="2324594" y="1270000"/>
                    <a:pt x="2292684" y="1270000"/>
                  </a:cubicBezTo>
                  <a:lnTo>
                    <a:pt x="120316" y="1270000"/>
                  </a:lnTo>
                  <a:cubicBezTo>
                    <a:pt x="88406" y="1270000"/>
                    <a:pt x="57803" y="1257324"/>
                    <a:pt x="35240" y="1234760"/>
                  </a:cubicBezTo>
                  <a:cubicBezTo>
                    <a:pt x="12676" y="1212197"/>
                    <a:pt x="0" y="1181594"/>
                    <a:pt x="0" y="1149684"/>
                  </a:cubicBezTo>
                  <a:lnTo>
                    <a:pt x="0" y="120316"/>
                  </a:lnTo>
                  <a:cubicBezTo>
                    <a:pt x="0" y="88406"/>
                    <a:pt x="12676" y="57803"/>
                    <a:pt x="35240" y="35240"/>
                  </a:cubicBezTo>
                  <a:cubicBezTo>
                    <a:pt x="57803" y="12676"/>
                    <a:pt x="88406" y="0"/>
                    <a:pt x="120316" y="0"/>
                  </a:cubicBezTo>
                  <a:close/>
                </a:path>
              </a:pathLst>
            </a:custGeom>
            <a:solidFill>
              <a:srgbClr val="23A47B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2413000" cy="1270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2"/>
                </a:lnSpc>
              </a:pPr>
              <a:r>
                <a:rPr lang="en-US" sz="1950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INICIO</a:t>
              </a:r>
            </a:p>
          </p:txBody>
        </p:sp>
      </p:grpSp>
      <p:sp>
        <p:nvSpPr>
          <p:cNvPr name="AutoShape 6" id="6"/>
          <p:cNvSpPr/>
          <p:nvPr/>
        </p:nvSpPr>
        <p:spPr>
          <a:xfrm>
            <a:off x="2857500" y="4667250"/>
            <a:ext cx="857250" cy="0"/>
          </a:xfrm>
          <a:prstGeom prst="line">
            <a:avLst/>
          </a:prstGeom>
          <a:ln cap="rnd" w="47625">
            <a:solidFill>
              <a:srgbClr val="20B8CD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7" id="7"/>
          <p:cNvGrpSpPr/>
          <p:nvPr/>
        </p:nvGrpSpPr>
        <p:grpSpPr>
          <a:xfrm rot="0">
            <a:off x="3714750" y="4000500"/>
            <a:ext cx="2381250" cy="1333500"/>
            <a:chOff x="0" y="0"/>
            <a:chExt cx="3175000" cy="1778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175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3175000">
                  <a:moveTo>
                    <a:pt x="91440" y="0"/>
                  </a:moveTo>
                  <a:lnTo>
                    <a:pt x="3083560" y="0"/>
                  </a:lnTo>
                  <a:cubicBezTo>
                    <a:pt x="3134061" y="0"/>
                    <a:pt x="3175000" y="40939"/>
                    <a:pt x="3175000" y="91440"/>
                  </a:cubicBezTo>
                  <a:lnTo>
                    <a:pt x="3175000" y="1686560"/>
                  </a:lnTo>
                  <a:cubicBezTo>
                    <a:pt x="3175000" y="1737061"/>
                    <a:pt x="3134061" y="1778000"/>
                    <a:pt x="3083560" y="1778000"/>
                  </a:cubicBezTo>
                  <a:lnTo>
                    <a:pt x="91440" y="1778000"/>
                  </a:lnTo>
                  <a:cubicBezTo>
                    <a:pt x="40939" y="1778000"/>
                    <a:pt x="0" y="1737061"/>
                    <a:pt x="0" y="1686560"/>
                  </a:cubicBezTo>
                  <a:lnTo>
                    <a:pt x="0" y="91440"/>
                  </a:lnTo>
                  <a:cubicBezTo>
                    <a:pt x="0" y="40939"/>
                    <a:pt x="40939" y="0"/>
                    <a:pt x="91440" y="0"/>
                  </a:cubicBezTo>
                  <a:close/>
                </a:path>
              </a:pathLst>
            </a:custGeom>
            <a:solidFill>
              <a:srgbClr val="176BAF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3175000" cy="1778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2"/>
                </a:lnSpc>
              </a:pPr>
              <a:r>
                <a:rPr lang="en-US" sz="1950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Cargar</a:t>
              </a:r>
            </a:p>
            <a:p>
              <a:pPr algn="ctr">
                <a:lnSpc>
                  <a:spcPts val="2242"/>
                </a:lnSpc>
              </a:pPr>
              <a:r>
                <a:rPr lang="en-US" sz="1950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expedientes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>
            <a:off x="6096000" y="4667250"/>
            <a:ext cx="857250" cy="0"/>
          </a:xfrm>
          <a:prstGeom prst="line">
            <a:avLst/>
          </a:prstGeom>
          <a:ln cap="rnd" w="47625">
            <a:solidFill>
              <a:srgbClr val="20B8CD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1" id="11"/>
          <p:cNvGrpSpPr/>
          <p:nvPr/>
        </p:nvGrpSpPr>
        <p:grpSpPr>
          <a:xfrm rot="0">
            <a:off x="6953250" y="4000500"/>
            <a:ext cx="2190750" cy="1333500"/>
            <a:chOff x="0" y="0"/>
            <a:chExt cx="2921000" cy="1778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921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2921000">
                  <a:moveTo>
                    <a:pt x="99391" y="0"/>
                  </a:moveTo>
                  <a:lnTo>
                    <a:pt x="2821609" y="0"/>
                  </a:lnTo>
                  <a:cubicBezTo>
                    <a:pt x="2876501" y="0"/>
                    <a:pt x="2921000" y="44499"/>
                    <a:pt x="2921000" y="99391"/>
                  </a:cubicBezTo>
                  <a:lnTo>
                    <a:pt x="2921000" y="1678609"/>
                  </a:lnTo>
                  <a:cubicBezTo>
                    <a:pt x="2921000" y="1733501"/>
                    <a:pt x="2876501" y="1778000"/>
                    <a:pt x="2821609" y="1778000"/>
                  </a:cubicBezTo>
                  <a:lnTo>
                    <a:pt x="99391" y="1778000"/>
                  </a:lnTo>
                  <a:cubicBezTo>
                    <a:pt x="44499" y="1778000"/>
                    <a:pt x="0" y="1733501"/>
                    <a:pt x="0" y="1678609"/>
                  </a:cubicBezTo>
                  <a:lnTo>
                    <a:pt x="0" y="99391"/>
                  </a:lnTo>
                  <a:cubicBezTo>
                    <a:pt x="0" y="44499"/>
                    <a:pt x="44499" y="0"/>
                    <a:pt x="99391" y="0"/>
                  </a:cubicBezTo>
                  <a:close/>
                </a:path>
              </a:pathLst>
            </a:custGeom>
            <a:solidFill>
              <a:srgbClr val="071B33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2921000" cy="1778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2"/>
                </a:lnSpc>
              </a:pPr>
              <a:r>
                <a:rPr lang="en-US" sz="1950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Mostrar</a:t>
              </a:r>
            </a:p>
            <a:p>
              <a:pPr algn="ctr">
                <a:lnSpc>
                  <a:spcPts val="2242"/>
                </a:lnSpc>
              </a:pPr>
              <a:r>
                <a:rPr lang="en-US" sz="1950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menú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>
            <a:off x="9144000" y="4667250"/>
            <a:ext cx="857250" cy="0"/>
          </a:xfrm>
          <a:prstGeom prst="line">
            <a:avLst/>
          </a:prstGeom>
          <a:ln cap="rnd" w="47625">
            <a:solidFill>
              <a:srgbClr val="20B8CD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5" id="15"/>
          <p:cNvGrpSpPr/>
          <p:nvPr/>
        </p:nvGrpSpPr>
        <p:grpSpPr>
          <a:xfrm rot="0">
            <a:off x="10001250" y="3714750"/>
            <a:ext cx="2381250" cy="1905000"/>
            <a:chOff x="0" y="0"/>
            <a:chExt cx="3175000" cy="2540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175000" cy="2540000"/>
            </a:xfrm>
            <a:custGeom>
              <a:avLst/>
              <a:gdLst/>
              <a:ahLst/>
              <a:cxnLst/>
              <a:rect r="r" b="b" t="t" l="l"/>
              <a:pathLst>
                <a:path h="2540000" w="3175000">
                  <a:moveTo>
                    <a:pt x="91440" y="0"/>
                  </a:moveTo>
                  <a:lnTo>
                    <a:pt x="3083560" y="0"/>
                  </a:lnTo>
                  <a:cubicBezTo>
                    <a:pt x="3134061" y="0"/>
                    <a:pt x="3175000" y="40939"/>
                    <a:pt x="3175000" y="91440"/>
                  </a:cubicBezTo>
                  <a:lnTo>
                    <a:pt x="3175000" y="2448560"/>
                  </a:lnTo>
                  <a:cubicBezTo>
                    <a:pt x="3175000" y="2499061"/>
                    <a:pt x="3134061" y="2540000"/>
                    <a:pt x="3083560" y="2540000"/>
                  </a:cubicBezTo>
                  <a:lnTo>
                    <a:pt x="91440" y="2540000"/>
                  </a:lnTo>
                  <a:cubicBezTo>
                    <a:pt x="40939" y="2540000"/>
                    <a:pt x="0" y="2499061"/>
                    <a:pt x="0" y="2448560"/>
                  </a:cubicBezTo>
                  <a:lnTo>
                    <a:pt x="0" y="91440"/>
                  </a:lnTo>
                  <a:cubicBezTo>
                    <a:pt x="0" y="40939"/>
                    <a:pt x="40939" y="0"/>
                    <a:pt x="91440" y="0"/>
                  </a:cubicBezTo>
                  <a:close/>
                </a:path>
              </a:pathLst>
            </a:custGeom>
            <a:solidFill>
              <a:srgbClr val="20B8CD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3175000" cy="2540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2"/>
                </a:lnSpc>
              </a:pPr>
              <a:r>
                <a:rPr lang="en-US" sz="1950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¿Opción?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811250" y="1714500"/>
            <a:ext cx="2667000" cy="1047750"/>
            <a:chOff x="0" y="0"/>
            <a:chExt cx="3556000" cy="1397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556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556000">
                  <a:moveTo>
                    <a:pt x="81643" y="0"/>
                  </a:moveTo>
                  <a:lnTo>
                    <a:pt x="3474357" y="0"/>
                  </a:lnTo>
                  <a:cubicBezTo>
                    <a:pt x="3519447" y="0"/>
                    <a:pt x="3556000" y="36553"/>
                    <a:pt x="3556000" y="81643"/>
                  </a:cubicBezTo>
                  <a:lnTo>
                    <a:pt x="3556000" y="1315357"/>
                  </a:lnTo>
                  <a:cubicBezTo>
                    <a:pt x="3556000" y="1360447"/>
                    <a:pt x="3519447" y="1397000"/>
                    <a:pt x="3474357" y="1397000"/>
                  </a:cubicBezTo>
                  <a:lnTo>
                    <a:pt x="81643" y="1397000"/>
                  </a:lnTo>
                  <a:cubicBezTo>
                    <a:pt x="36553" y="1397000"/>
                    <a:pt x="0" y="1360447"/>
                    <a:pt x="0" y="1315357"/>
                  </a:cubicBezTo>
                  <a:lnTo>
                    <a:pt x="0" y="81643"/>
                  </a:lnTo>
                  <a:cubicBezTo>
                    <a:pt x="0" y="36553"/>
                    <a:pt x="36553" y="0"/>
                    <a:pt x="81643" y="0"/>
                  </a:cubicBezTo>
                  <a:close/>
                </a:path>
              </a:pathLst>
            </a:custGeom>
            <a:solidFill>
              <a:srgbClr val="176BAF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9525"/>
              <a:ext cx="3556000" cy="1387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1 Registrar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flipV="true">
            <a:off x="12382500" y="2238375"/>
            <a:ext cx="1238250" cy="2428875"/>
          </a:xfrm>
          <a:prstGeom prst="line">
            <a:avLst/>
          </a:prstGeom>
          <a:ln cap="rnd" w="47625">
            <a:solidFill>
              <a:srgbClr val="20B8CD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2" id="22"/>
          <p:cNvGrpSpPr/>
          <p:nvPr/>
        </p:nvGrpSpPr>
        <p:grpSpPr>
          <a:xfrm rot="0">
            <a:off x="13811250" y="3238500"/>
            <a:ext cx="2667000" cy="1047750"/>
            <a:chOff x="0" y="0"/>
            <a:chExt cx="3556000" cy="1397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556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556000">
                  <a:moveTo>
                    <a:pt x="81643" y="0"/>
                  </a:moveTo>
                  <a:lnTo>
                    <a:pt x="3474357" y="0"/>
                  </a:lnTo>
                  <a:cubicBezTo>
                    <a:pt x="3519447" y="0"/>
                    <a:pt x="3556000" y="36553"/>
                    <a:pt x="3556000" y="81643"/>
                  </a:cubicBezTo>
                  <a:lnTo>
                    <a:pt x="3556000" y="1315357"/>
                  </a:lnTo>
                  <a:cubicBezTo>
                    <a:pt x="3556000" y="1360447"/>
                    <a:pt x="3519447" y="1397000"/>
                    <a:pt x="3474357" y="1397000"/>
                  </a:cubicBezTo>
                  <a:lnTo>
                    <a:pt x="81643" y="1397000"/>
                  </a:lnTo>
                  <a:cubicBezTo>
                    <a:pt x="36553" y="1397000"/>
                    <a:pt x="0" y="1360447"/>
                    <a:pt x="0" y="1315357"/>
                  </a:cubicBezTo>
                  <a:lnTo>
                    <a:pt x="0" y="81643"/>
                  </a:lnTo>
                  <a:cubicBezTo>
                    <a:pt x="0" y="36553"/>
                    <a:pt x="36553" y="0"/>
                    <a:pt x="81643" y="0"/>
                  </a:cubicBezTo>
                  <a:close/>
                </a:path>
              </a:pathLst>
            </a:custGeom>
            <a:solidFill>
              <a:srgbClr val="176BAF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9525"/>
              <a:ext cx="3556000" cy="1387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2 Buscar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 flipV="true">
            <a:off x="12382500" y="3762375"/>
            <a:ext cx="1238250" cy="904875"/>
          </a:xfrm>
          <a:prstGeom prst="line">
            <a:avLst/>
          </a:prstGeom>
          <a:ln cap="rnd" w="47625">
            <a:solidFill>
              <a:srgbClr val="20B8CD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6" id="26"/>
          <p:cNvGrpSpPr/>
          <p:nvPr/>
        </p:nvGrpSpPr>
        <p:grpSpPr>
          <a:xfrm rot="0">
            <a:off x="13811250" y="4762500"/>
            <a:ext cx="2667000" cy="1047750"/>
            <a:chOff x="0" y="0"/>
            <a:chExt cx="3556000" cy="1397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556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556000">
                  <a:moveTo>
                    <a:pt x="81643" y="0"/>
                  </a:moveTo>
                  <a:lnTo>
                    <a:pt x="3474357" y="0"/>
                  </a:lnTo>
                  <a:cubicBezTo>
                    <a:pt x="3519447" y="0"/>
                    <a:pt x="3556000" y="36553"/>
                    <a:pt x="3556000" y="81643"/>
                  </a:cubicBezTo>
                  <a:lnTo>
                    <a:pt x="3556000" y="1315357"/>
                  </a:lnTo>
                  <a:cubicBezTo>
                    <a:pt x="3556000" y="1360447"/>
                    <a:pt x="3519447" y="1397000"/>
                    <a:pt x="3474357" y="1397000"/>
                  </a:cubicBezTo>
                  <a:lnTo>
                    <a:pt x="81643" y="1397000"/>
                  </a:lnTo>
                  <a:cubicBezTo>
                    <a:pt x="36553" y="1397000"/>
                    <a:pt x="0" y="1360447"/>
                    <a:pt x="0" y="1315357"/>
                  </a:cubicBezTo>
                  <a:lnTo>
                    <a:pt x="0" y="81643"/>
                  </a:lnTo>
                  <a:cubicBezTo>
                    <a:pt x="0" y="36553"/>
                    <a:pt x="36553" y="0"/>
                    <a:pt x="81643" y="0"/>
                  </a:cubicBezTo>
                  <a:close/>
                </a:path>
              </a:pathLst>
            </a:custGeom>
            <a:solidFill>
              <a:srgbClr val="176BAF"/>
            </a:solidFill>
            <a:ln cap="sq">
              <a:noFill/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9525"/>
              <a:ext cx="3556000" cy="1387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3 Ordenar</a:t>
              </a:r>
            </a:p>
          </p:txBody>
        </p:sp>
      </p:grpSp>
      <p:sp>
        <p:nvSpPr>
          <p:cNvPr name="AutoShape 29" id="29"/>
          <p:cNvSpPr/>
          <p:nvPr/>
        </p:nvSpPr>
        <p:spPr>
          <a:xfrm>
            <a:off x="12382500" y="4667250"/>
            <a:ext cx="1238250" cy="619125"/>
          </a:xfrm>
          <a:prstGeom prst="line">
            <a:avLst/>
          </a:prstGeom>
          <a:ln cap="rnd" w="47625">
            <a:solidFill>
              <a:srgbClr val="20B8CD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0" id="30"/>
          <p:cNvGrpSpPr/>
          <p:nvPr/>
        </p:nvGrpSpPr>
        <p:grpSpPr>
          <a:xfrm rot="0">
            <a:off x="13811250" y="6286500"/>
            <a:ext cx="2667000" cy="1047750"/>
            <a:chOff x="0" y="0"/>
            <a:chExt cx="3556000" cy="1397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556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556000">
                  <a:moveTo>
                    <a:pt x="81643" y="0"/>
                  </a:moveTo>
                  <a:lnTo>
                    <a:pt x="3474357" y="0"/>
                  </a:lnTo>
                  <a:cubicBezTo>
                    <a:pt x="3519447" y="0"/>
                    <a:pt x="3556000" y="36553"/>
                    <a:pt x="3556000" y="81643"/>
                  </a:cubicBezTo>
                  <a:lnTo>
                    <a:pt x="3556000" y="1315357"/>
                  </a:lnTo>
                  <a:cubicBezTo>
                    <a:pt x="3556000" y="1360447"/>
                    <a:pt x="3519447" y="1397000"/>
                    <a:pt x="3474357" y="1397000"/>
                  </a:cubicBezTo>
                  <a:lnTo>
                    <a:pt x="81643" y="1397000"/>
                  </a:lnTo>
                  <a:cubicBezTo>
                    <a:pt x="36553" y="1397000"/>
                    <a:pt x="0" y="1360447"/>
                    <a:pt x="0" y="1315357"/>
                  </a:cubicBezTo>
                  <a:lnTo>
                    <a:pt x="0" y="81643"/>
                  </a:lnTo>
                  <a:cubicBezTo>
                    <a:pt x="0" y="36553"/>
                    <a:pt x="36553" y="0"/>
                    <a:pt x="81643" y="0"/>
                  </a:cubicBezTo>
                  <a:close/>
                </a:path>
              </a:pathLst>
            </a:custGeom>
            <a:solidFill>
              <a:srgbClr val="176BAF"/>
            </a:solidFill>
            <a:ln cap="sq">
              <a:noFill/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9525"/>
              <a:ext cx="3556000" cy="1387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4 Listar</a:t>
              </a:r>
            </a:p>
          </p:txBody>
        </p:sp>
      </p:grpSp>
      <p:sp>
        <p:nvSpPr>
          <p:cNvPr name="AutoShape 33" id="33"/>
          <p:cNvSpPr/>
          <p:nvPr/>
        </p:nvSpPr>
        <p:spPr>
          <a:xfrm>
            <a:off x="12382500" y="4667250"/>
            <a:ext cx="1238250" cy="2143125"/>
          </a:xfrm>
          <a:prstGeom prst="line">
            <a:avLst/>
          </a:prstGeom>
          <a:ln cap="rnd" w="47625">
            <a:solidFill>
              <a:srgbClr val="20B8CD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4" id="34"/>
          <p:cNvGrpSpPr/>
          <p:nvPr/>
        </p:nvGrpSpPr>
        <p:grpSpPr>
          <a:xfrm rot="0">
            <a:off x="13811250" y="7810500"/>
            <a:ext cx="2667000" cy="1047750"/>
            <a:chOff x="0" y="0"/>
            <a:chExt cx="3556000" cy="1397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556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556000">
                  <a:moveTo>
                    <a:pt x="81643" y="0"/>
                  </a:moveTo>
                  <a:lnTo>
                    <a:pt x="3474357" y="0"/>
                  </a:lnTo>
                  <a:cubicBezTo>
                    <a:pt x="3519447" y="0"/>
                    <a:pt x="3556000" y="36553"/>
                    <a:pt x="3556000" y="81643"/>
                  </a:cubicBezTo>
                  <a:lnTo>
                    <a:pt x="3556000" y="1315357"/>
                  </a:lnTo>
                  <a:cubicBezTo>
                    <a:pt x="3556000" y="1360447"/>
                    <a:pt x="3519447" y="1397000"/>
                    <a:pt x="3474357" y="1397000"/>
                  </a:cubicBezTo>
                  <a:lnTo>
                    <a:pt x="81643" y="1397000"/>
                  </a:lnTo>
                  <a:cubicBezTo>
                    <a:pt x="36553" y="1397000"/>
                    <a:pt x="0" y="1360447"/>
                    <a:pt x="0" y="1315357"/>
                  </a:cubicBezTo>
                  <a:lnTo>
                    <a:pt x="0" y="81643"/>
                  </a:lnTo>
                  <a:cubicBezTo>
                    <a:pt x="0" y="36553"/>
                    <a:pt x="36553" y="0"/>
                    <a:pt x="81643" y="0"/>
                  </a:cubicBezTo>
                  <a:close/>
                </a:path>
              </a:pathLst>
            </a:custGeom>
            <a:solidFill>
              <a:srgbClr val="23A47B"/>
            </a:solidFill>
            <a:ln cap="sq">
              <a:noFill/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9525"/>
              <a:ext cx="3556000" cy="1387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5 Guardar</a:t>
              </a:r>
            </a:p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y salir</a:t>
              </a:r>
            </a:p>
          </p:txBody>
        </p:sp>
      </p:grpSp>
      <p:sp>
        <p:nvSpPr>
          <p:cNvPr name="AutoShape 37" id="37"/>
          <p:cNvSpPr/>
          <p:nvPr/>
        </p:nvSpPr>
        <p:spPr>
          <a:xfrm>
            <a:off x="12382500" y="4667250"/>
            <a:ext cx="1238250" cy="3667125"/>
          </a:xfrm>
          <a:prstGeom prst="line">
            <a:avLst/>
          </a:prstGeom>
          <a:ln cap="rnd" w="47625">
            <a:solidFill>
              <a:srgbClr val="20B8CD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8" id="38"/>
          <p:cNvGrpSpPr/>
          <p:nvPr/>
        </p:nvGrpSpPr>
        <p:grpSpPr>
          <a:xfrm rot="0">
            <a:off x="16621125" y="7858125"/>
            <a:ext cx="1238250" cy="952500"/>
            <a:chOff x="0" y="0"/>
            <a:chExt cx="1651000" cy="12700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651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1651000">
                  <a:moveTo>
                    <a:pt x="175846" y="0"/>
                  </a:moveTo>
                  <a:lnTo>
                    <a:pt x="1475154" y="0"/>
                  </a:lnTo>
                  <a:cubicBezTo>
                    <a:pt x="1572271" y="0"/>
                    <a:pt x="1651000" y="78729"/>
                    <a:pt x="1651000" y="175846"/>
                  </a:cubicBezTo>
                  <a:lnTo>
                    <a:pt x="1651000" y="1094154"/>
                  </a:lnTo>
                  <a:cubicBezTo>
                    <a:pt x="1651000" y="1191271"/>
                    <a:pt x="1572271" y="1270000"/>
                    <a:pt x="1475154" y="1270000"/>
                  </a:cubicBezTo>
                  <a:lnTo>
                    <a:pt x="175846" y="1270000"/>
                  </a:lnTo>
                  <a:cubicBezTo>
                    <a:pt x="78729" y="1270000"/>
                    <a:pt x="0" y="1191271"/>
                    <a:pt x="0" y="1094154"/>
                  </a:cubicBezTo>
                  <a:lnTo>
                    <a:pt x="0" y="175846"/>
                  </a:lnTo>
                  <a:cubicBezTo>
                    <a:pt x="0" y="78729"/>
                    <a:pt x="78729" y="0"/>
                    <a:pt x="175846" y="0"/>
                  </a:cubicBezTo>
                  <a:close/>
                </a:path>
              </a:pathLst>
            </a:custGeom>
            <a:solidFill>
              <a:srgbClr val="071B33"/>
            </a:solidFill>
            <a:ln cap="sq">
              <a:noFill/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9525"/>
              <a:ext cx="1651000" cy="1260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650" b="true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FIN</a:t>
              </a:r>
            </a:p>
          </p:txBody>
        </p:sp>
      </p:grpSp>
      <p:sp>
        <p:nvSpPr>
          <p:cNvPr name="AutoShape 41" id="41"/>
          <p:cNvSpPr/>
          <p:nvPr/>
        </p:nvSpPr>
        <p:spPr>
          <a:xfrm>
            <a:off x="16478250" y="8334375"/>
            <a:ext cx="142875" cy="0"/>
          </a:xfrm>
          <a:prstGeom prst="line">
            <a:avLst/>
          </a:prstGeom>
          <a:ln cap="rnd" w="47625">
            <a:solidFill>
              <a:srgbClr val="20B8CD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07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723900"/>
            <a:ext cx="14287500" cy="579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43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Casos de prueba y próximos pasos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47750" y="2381250"/>
            <a:ext cx="4953000" cy="3143250"/>
            <a:chOff x="0" y="0"/>
            <a:chExt cx="6604000" cy="4191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6604000" cy="4191000"/>
              <a:chOff x="0" y="0"/>
              <a:chExt cx="6604000" cy="4191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6604000" cy="4191000"/>
              </a:xfrm>
              <a:custGeom>
                <a:avLst/>
                <a:gdLst/>
                <a:ahLst/>
                <a:cxnLst/>
                <a:rect r="r" b="b" t="t" l="l"/>
                <a:pathLst>
                  <a:path h="4191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4191000"/>
                    </a:lnTo>
                    <a:lnTo>
                      <a:pt x="0" y="4191000"/>
                    </a:lnTo>
                    <a:close/>
                  </a:path>
                </a:pathLst>
              </a:custGeom>
              <a:solidFill>
                <a:srgbClr val="0D315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6604000" cy="422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508000" y="682625"/>
              <a:ext cx="1143000" cy="5619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en-US" sz="3000" b="true">
                  <a:solidFill>
                    <a:srgbClr val="20B8C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01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778000" y="682625"/>
              <a:ext cx="4699000" cy="4278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72"/>
                </a:lnSpc>
              </a:pPr>
              <a:r>
                <a:rPr lang="en-US" sz="24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Registro válido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508000" y="1812925"/>
              <a:ext cx="5715000" cy="8915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BFD0E1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Genera código y conserva los ocho campos.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477000" y="2381250"/>
            <a:ext cx="4953000" cy="3143250"/>
            <a:chOff x="0" y="0"/>
            <a:chExt cx="6604000" cy="419100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6604000" cy="4191000"/>
              <a:chOff x="0" y="0"/>
              <a:chExt cx="6604000" cy="41910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6604000" cy="4191000"/>
              </a:xfrm>
              <a:custGeom>
                <a:avLst/>
                <a:gdLst/>
                <a:ahLst/>
                <a:cxnLst/>
                <a:rect r="r" b="b" t="t" l="l"/>
                <a:pathLst>
                  <a:path h="4191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4191000"/>
                    </a:lnTo>
                    <a:lnTo>
                      <a:pt x="0" y="4191000"/>
                    </a:lnTo>
                    <a:close/>
                  </a:path>
                </a:pathLst>
              </a:custGeom>
              <a:solidFill>
                <a:srgbClr val="0D315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6604000" cy="422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508000" y="682625"/>
              <a:ext cx="1143000" cy="5619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en-US" sz="3000" b="true">
                  <a:solidFill>
                    <a:srgbClr val="20B8C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02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1778000" y="682625"/>
              <a:ext cx="4699000" cy="4278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72"/>
                </a:lnSpc>
              </a:pPr>
              <a:r>
                <a:rPr lang="en-US" sz="24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Dato inválido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508000" y="1812925"/>
              <a:ext cx="5715000" cy="4343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BFD0E1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Rechaza DNI, folios o campos vacíos.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906250" y="2381250"/>
            <a:ext cx="4953000" cy="3143250"/>
            <a:chOff x="0" y="0"/>
            <a:chExt cx="6604000" cy="4191000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6604000" cy="4191000"/>
              <a:chOff x="0" y="0"/>
              <a:chExt cx="6604000" cy="41910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6604000" cy="4191000"/>
              </a:xfrm>
              <a:custGeom>
                <a:avLst/>
                <a:gdLst/>
                <a:ahLst/>
                <a:cxnLst/>
                <a:rect r="r" b="b" t="t" l="l"/>
                <a:pathLst>
                  <a:path h="4191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4191000"/>
                    </a:lnTo>
                    <a:lnTo>
                      <a:pt x="0" y="4191000"/>
                    </a:lnTo>
                    <a:close/>
                  </a:path>
                </a:pathLst>
              </a:custGeom>
              <a:solidFill>
                <a:srgbClr val="0D315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6604000" cy="422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508000" y="682625"/>
              <a:ext cx="1143000" cy="5619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en-US" sz="3000" b="true">
                  <a:solidFill>
                    <a:srgbClr val="20B8C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03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1778000" y="682625"/>
              <a:ext cx="4699000" cy="4278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72"/>
                </a:lnSpc>
              </a:pPr>
              <a:r>
                <a:rPr lang="en-US" sz="24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Búsqueda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508000" y="1812925"/>
              <a:ext cx="5715000" cy="8915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3"/>
                </a:lnSpc>
              </a:pPr>
              <a:r>
                <a:rPr lang="en-US" sz="2025">
                  <a:solidFill>
                    <a:srgbClr val="BFD0E1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Encuentra por código o informa ausencia.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143000" y="7172325"/>
            <a:ext cx="3810000" cy="254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8"/>
              </a:lnSpc>
            </a:pPr>
            <a:r>
              <a:rPr lang="en-US" sz="1875" b="true">
                <a:solidFill>
                  <a:srgbClr val="20B8C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SIGUIENTE FASE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43000" y="7867650"/>
            <a:ext cx="15716250" cy="442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</a:pPr>
            <a:r>
              <a:rPr lang="en-US" sz="33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Implementar  →  probar con usuarios  →  mejorar la interfaz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DAHYnCQSJGc</dc:identifier>
  <dcterms:modified xsi:type="dcterms:W3CDTF">2011-08-01T06:04:30Z</dcterms:modified>
  <cp:revision>1</cp:revision>
  <dc:title>Mesa de partes digital</dc:title>
</cp:coreProperties>
</file>